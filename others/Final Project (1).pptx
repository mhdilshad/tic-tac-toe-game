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VT323"/>
      <p:regular r:id="rId20"/>
    </p:embeddedFon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wQ4+f7RRPX0eVXXFeRdhunJe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VT323-regular.fntdata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40080" y="1417320"/>
            <a:ext cx="8092440" cy="420624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48640" y="502920"/>
            <a:ext cx="210312" cy="210312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95528" y="502920"/>
            <a:ext cx="210312" cy="210312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749808"/>
            <a:ext cx="210312" cy="210312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95528" y="749808"/>
            <a:ext cx="210312" cy="210312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41248" y="154533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143000" y="1417320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115 – PROGRAMMING LANGUAGE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863840" y="151790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38160" y="149961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12480" y="151790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777240" y="1874520"/>
            <a:ext cx="7818120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1188720" y="2194560"/>
            <a:ext cx="6995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7C0"/>
              </a:buClr>
              <a:buSzPts val="1200"/>
              <a:buFont typeface="Quattrocento Sans"/>
              <a:buNone/>
            </a:pPr>
            <a:r>
              <a:rPr b="1" lang="en-US" sz="1200">
                <a:solidFill>
                  <a:srgbClr val="0067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88720" y="2138857"/>
            <a:ext cx="6613595" cy="1428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4000"/>
              <a:buFont typeface="Quattrocento Sans"/>
              <a:buNone/>
            </a:pPr>
            <a:r>
              <a:rPr b="1" lang="en-US" sz="40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TIC TAC TOE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136175" y="4886002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1237488" y="3433187"/>
            <a:ext cx="162687" cy="162687"/>
          </a:xfrm>
          <a:prstGeom prst="ellipse">
            <a:avLst/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511808" y="3362387"/>
            <a:ext cx="16870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Sajir Rashdi Karim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511807" y="3663743"/>
            <a:ext cx="2010107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400"/>
              <a:buFont typeface="Quattrocento Sans"/>
              <a:buNone/>
            </a:pPr>
            <a:r>
              <a:rPr lang="en-US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Ishteaque Ahnaf</a:t>
            </a: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511807" y="3967848"/>
            <a:ext cx="2253371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400"/>
              <a:buFont typeface="Quattrocento Sans"/>
              <a:buNone/>
            </a:pP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Md. Mahfuz Hayder Dilshad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511794" y="4259400"/>
            <a:ext cx="222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Irfan Sadik Ahmed Arnab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1;p1"/>
          <p:cNvGrpSpPr/>
          <p:nvPr/>
        </p:nvGrpSpPr>
        <p:grpSpPr>
          <a:xfrm>
            <a:off x="9006840" y="1417320"/>
            <a:ext cx="2542032" cy="1417320"/>
            <a:chOff x="9006840" y="1417320"/>
            <a:chExt cx="2542032" cy="1417320"/>
          </a:xfrm>
        </p:grpSpPr>
        <p:grpSp>
          <p:nvGrpSpPr>
            <p:cNvPr id="32" name="Google Shape;32;p1"/>
            <p:cNvGrpSpPr/>
            <p:nvPr/>
          </p:nvGrpSpPr>
          <p:grpSpPr>
            <a:xfrm>
              <a:off x="9006840" y="1417320"/>
              <a:ext cx="2542032" cy="1417320"/>
              <a:chOff x="9006840" y="1417320"/>
              <a:chExt cx="2542032" cy="1417320"/>
            </a:xfrm>
          </p:grpSpPr>
          <p:sp>
            <p:nvSpPr>
              <p:cNvPr id="33" name="Google Shape;33;p1"/>
              <p:cNvSpPr/>
              <p:nvPr/>
            </p:nvSpPr>
            <p:spPr>
              <a:xfrm>
                <a:off x="9006840" y="1417320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9208008" y="1508760"/>
                <a:ext cx="201168" cy="201168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notes.txt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22883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" name="Google Shape;39;p1"/>
            <p:cNvCxnSpPr/>
            <p:nvPr/>
          </p:nvCxnSpPr>
          <p:spPr>
            <a:xfrm>
              <a:off x="9144000" y="1801368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0" name="Google Shape;40;p1"/>
          <p:cNvSpPr/>
          <p:nvPr/>
        </p:nvSpPr>
        <p:spPr>
          <a:xfrm>
            <a:off x="9205679" y="1694027"/>
            <a:ext cx="2224266" cy="1417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  <a:p>
            <a:pPr indent="-17145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 Flow &amp; Game Board Design</a:t>
            </a:r>
            <a:endParaRPr/>
          </a:p>
          <a:p>
            <a:pPr indent="-17145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 Logic</a:t>
            </a:r>
            <a:endParaRPr/>
          </a:p>
          <a:p>
            <a:pPr indent="-17145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Bug Fixes</a:t>
            </a:r>
            <a:endParaRPr/>
          </a:p>
          <a:p>
            <a:pPr indent="-17145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and Future Improvements</a:t>
            </a:r>
            <a:endParaRPr/>
          </a:p>
          <a:p>
            <a:pPr indent="-114300" lvl="0" marL="1714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rgbClr val="5F5F5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1" name="Google Shape;41;p1"/>
          <p:cNvGrpSpPr/>
          <p:nvPr/>
        </p:nvGrpSpPr>
        <p:grpSpPr>
          <a:xfrm>
            <a:off x="9022799" y="4251960"/>
            <a:ext cx="2542032" cy="1371600"/>
            <a:chOff x="9006840" y="3017520"/>
            <a:chExt cx="2542032" cy="1371600"/>
          </a:xfrm>
        </p:grpSpPr>
        <p:sp>
          <p:nvSpPr>
            <p:cNvPr id="42" name="Google Shape;42;p1"/>
            <p:cNvSpPr/>
            <p:nvPr/>
          </p:nvSpPr>
          <p:spPr>
            <a:xfrm>
              <a:off x="9006840" y="3017520"/>
              <a:ext cx="2542032" cy="13716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9208008" y="3108960"/>
              <a:ext cx="201168" cy="201168"/>
            </a:xfrm>
            <a:prstGeom prst="roundRect">
              <a:avLst>
                <a:gd fmla="val 22727" name="adj"/>
              </a:avLst>
            </a:prstGeom>
            <a:solidFill>
              <a:srgbClr val="00B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9509760" y="3017520"/>
              <a:ext cx="1170432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stats.dat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10680192" y="3081528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0954512" y="3064671"/>
              <a:ext cx="274320" cy="291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000"/>
                <a:buFont typeface="Quattrocento Sans"/>
                <a:buNone/>
              </a:pPr>
              <a:r>
                <a:rPr lang="en-US" sz="10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1228832" y="3081528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" name="Google Shape;48;p1"/>
            <p:cNvCxnSpPr/>
            <p:nvPr/>
          </p:nvCxnSpPr>
          <p:spPr>
            <a:xfrm>
              <a:off x="9144000" y="3401568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" name="Google Shape;49;p1"/>
            <p:cNvSpPr/>
            <p:nvPr/>
          </p:nvSpPr>
          <p:spPr>
            <a:xfrm>
              <a:off x="9189720" y="3520440"/>
              <a:ext cx="10972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B7C3"/>
                </a:buClr>
                <a:buSzPts val="2800"/>
                <a:buFont typeface="Quattrocento Sans"/>
                <a:buNone/>
              </a:pPr>
              <a:r>
                <a:rPr b="1" lang="en-US" sz="2800">
                  <a:solidFill>
                    <a:srgbClr val="00B7C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15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9189720" y="4069080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000"/>
                <a:buFont typeface="Quattrocento Sans"/>
                <a:buNone/>
              </a:pPr>
              <a:r>
                <a:rPr lang="en-US" sz="10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slides ready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1"/>
          <p:cNvSpPr/>
          <p:nvPr/>
        </p:nvSpPr>
        <p:spPr>
          <a:xfrm>
            <a:off x="1005840" y="65471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8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9A9A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1"/>
          <p:cNvGrpSpPr/>
          <p:nvPr/>
        </p:nvGrpSpPr>
        <p:grpSpPr>
          <a:xfrm>
            <a:off x="6061716" y="2231136"/>
            <a:ext cx="2116836" cy="2384572"/>
            <a:chOff x="5820156" y="1792224"/>
            <a:chExt cx="2409443" cy="2596893"/>
          </a:xfrm>
        </p:grpSpPr>
        <p:grpSp>
          <p:nvGrpSpPr>
            <p:cNvPr id="54" name="Google Shape;54;p1"/>
            <p:cNvGrpSpPr/>
            <p:nvPr/>
          </p:nvGrpSpPr>
          <p:grpSpPr>
            <a:xfrm>
              <a:off x="5820156" y="1792224"/>
              <a:ext cx="2409443" cy="2596893"/>
              <a:chOff x="9006841" y="1417320"/>
              <a:chExt cx="2542032" cy="1417320"/>
            </a:xfrm>
          </p:grpSpPr>
          <p:sp>
            <p:nvSpPr>
              <p:cNvPr id="55" name="Google Shape;55;p1"/>
              <p:cNvSpPr/>
              <p:nvPr/>
            </p:nvSpPr>
            <p:spPr>
              <a:xfrm>
                <a:off x="9006841" y="1417320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9216230" y="1553894"/>
                <a:ext cx="201168" cy="135630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1122883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61" name="Google Shape;61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65286" y="2354168"/>
              <a:ext cx="2096323" cy="1972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"/>
            <p:cNvSpPr txBox="1"/>
            <p:nvPr/>
          </p:nvSpPr>
          <p:spPr>
            <a:xfrm>
              <a:off x="6201505" y="2014994"/>
              <a:ext cx="1245112" cy="284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</a:t>
              </a: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.png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"/>
          <p:cNvSpPr txBox="1"/>
          <p:nvPr/>
        </p:nvSpPr>
        <p:spPr>
          <a:xfrm>
            <a:off x="3789426" y="3377738"/>
            <a:ext cx="16870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2621130042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1237488" y="3732033"/>
            <a:ext cx="162687" cy="162687"/>
          </a:xfrm>
          <a:prstGeom prst="ellipse">
            <a:avLst/>
          </a:prstGeom>
          <a:solidFill>
            <a:srgbClr val="E300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B3FA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784098" y="3684724"/>
            <a:ext cx="14133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2624254042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237487" y="4039599"/>
            <a:ext cx="162687" cy="162687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B3FA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1237486" y="4333260"/>
            <a:ext cx="162687" cy="162687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B3FA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784098" y="3986293"/>
            <a:ext cx="16504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2624833042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89426" y="4281595"/>
            <a:ext cx="14133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</a:t>
            </a:r>
            <a:r>
              <a:rPr lang="en-US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5435042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"/>
          <p:cNvCxnSpPr/>
          <p:nvPr/>
        </p:nvCxnSpPr>
        <p:spPr>
          <a:xfrm>
            <a:off x="6170247" y="2749422"/>
            <a:ext cx="1934963" cy="3735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"/>
          <p:cNvSpPr/>
          <p:nvPr/>
        </p:nvSpPr>
        <p:spPr>
          <a:xfrm>
            <a:off x="795540" y="256045"/>
            <a:ext cx="210300" cy="210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548653" y="256045"/>
            <a:ext cx="210300" cy="210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42453" y="256045"/>
            <a:ext cx="210300" cy="210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1042453" y="502920"/>
            <a:ext cx="210300" cy="210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1042428" y="749795"/>
            <a:ext cx="210300" cy="210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/>
          <p:nvPr/>
        </p:nvSpPr>
        <p:spPr>
          <a:xfrm>
            <a:off x="646268" y="1056133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169417" y="3314274"/>
            <a:ext cx="830226" cy="9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283832" y="194404"/>
            <a:ext cx="11624335" cy="6313314"/>
            <a:chOff x="-276800" y="-129309"/>
            <a:chExt cx="12964033" cy="7114309"/>
          </a:xfrm>
        </p:grpSpPr>
        <p:sp>
          <p:nvSpPr>
            <p:cNvPr id="84" name="Google Shape;84;p2"/>
            <p:cNvSpPr/>
            <p:nvPr/>
          </p:nvSpPr>
          <p:spPr>
            <a:xfrm>
              <a:off x="-276800" y="-129309"/>
              <a:ext cx="12964033" cy="7114309"/>
            </a:xfrm>
            <a:prstGeom prst="roundRect">
              <a:avLst>
                <a:gd fmla="val 685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9525">
              <a:solidFill>
                <a:srgbClr val="F5F7F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115880" y="149760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641582" y="154586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300"/>
                <a:buFont typeface="Quattrocento Sans"/>
                <a:buNone/>
              </a:pPr>
              <a:r>
                <a:rPr lang="en-US" sz="18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2135417" y="144935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39915" y="231210"/>
              <a:ext cx="201168" cy="201168"/>
            </a:xfrm>
            <a:prstGeom prst="roundRect">
              <a:avLst>
                <a:gd fmla="val 2272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41668" y="103189"/>
              <a:ext cx="1267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4454708" y="4681321"/>
            <a:ext cx="7204639" cy="1607480"/>
            <a:chOff x="9197480" y="1331331"/>
            <a:chExt cx="2542032" cy="1417320"/>
          </a:xfrm>
        </p:grpSpPr>
        <p:grpSp>
          <p:nvGrpSpPr>
            <p:cNvPr id="91" name="Google Shape;91;p2"/>
            <p:cNvGrpSpPr/>
            <p:nvPr/>
          </p:nvGrpSpPr>
          <p:grpSpPr>
            <a:xfrm>
              <a:off x="9197480" y="1331331"/>
              <a:ext cx="2542032" cy="1417320"/>
              <a:chOff x="9197480" y="1331331"/>
              <a:chExt cx="2542032" cy="1417320"/>
            </a:xfrm>
          </p:grpSpPr>
          <p:sp>
            <p:nvSpPr>
              <p:cNvPr id="92" name="Google Shape;92;p2"/>
              <p:cNvSpPr/>
              <p:nvPr/>
            </p:nvSpPr>
            <p:spPr>
              <a:xfrm>
                <a:off x="9197480" y="1331331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.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087083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1145152" y="1378483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141947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7" name="Google Shape;97;p2"/>
            <p:cNvCxnSpPr/>
            <p:nvPr/>
          </p:nvCxnSpPr>
          <p:spPr>
            <a:xfrm>
              <a:off x="9334640" y="1715379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8" name="Google Shape;98;p2"/>
          <p:cNvGrpSpPr/>
          <p:nvPr/>
        </p:nvGrpSpPr>
        <p:grpSpPr>
          <a:xfrm>
            <a:off x="724985" y="1383617"/>
            <a:ext cx="6711442" cy="3881211"/>
            <a:chOff x="2917331" y="1521383"/>
            <a:chExt cx="6376468" cy="3687495"/>
          </a:xfrm>
        </p:grpSpPr>
        <p:grpSp>
          <p:nvGrpSpPr>
            <p:cNvPr id="99" name="Google Shape;99;p2"/>
            <p:cNvGrpSpPr/>
            <p:nvPr/>
          </p:nvGrpSpPr>
          <p:grpSpPr>
            <a:xfrm>
              <a:off x="2917331" y="1521383"/>
              <a:ext cx="6376468" cy="3687495"/>
              <a:chOff x="1414684" y="1382753"/>
              <a:chExt cx="6376468" cy="3687495"/>
            </a:xfrm>
          </p:grpSpPr>
          <p:grpSp>
            <p:nvGrpSpPr>
              <p:cNvPr id="100" name="Google Shape;100;p2"/>
              <p:cNvGrpSpPr/>
              <p:nvPr/>
            </p:nvGrpSpPr>
            <p:grpSpPr>
              <a:xfrm>
                <a:off x="2400002" y="183555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101" name="Google Shape;101;p2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102" name="Google Shape;102;p2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2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" name="Google Shape;104;p2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2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06" name="Google Shape;106;p2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7" name="Google Shape;107;p2"/>
              <p:cNvGrpSpPr/>
              <p:nvPr/>
            </p:nvGrpSpPr>
            <p:grpSpPr>
              <a:xfrm>
                <a:off x="1924666" y="158790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108" name="Google Shape;108;p2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109" name="Google Shape;109;p2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2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2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" name="Google Shape;112;p2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13" name="Google Shape;113;p2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4" name="Google Shape;114;p2"/>
              <p:cNvGrpSpPr/>
              <p:nvPr/>
            </p:nvGrpSpPr>
            <p:grpSpPr>
              <a:xfrm>
                <a:off x="1414684" y="1382753"/>
                <a:ext cx="5391150" cy="3234689"/>
                <a:chOff x="3722452" y="2184583"/>
                <a:chExt cx="5391150" cy="3234689"/>
              </a:xfrm>
            </p:grpSpPr>
            <p:grpSp>
              <p:nvGrpSpPr>
                <p:cNvPr id="115" name="Google Shape;115;p2"/>
                <p:cNvGrpSpPr/>
                <p:nvPr/>
              </p:nvGrpSpPr>
              <p:grpSpPr>
                <a:xfrm>
                  <a:off x="3722452" y="2184583"/>
                  <a:ext cx="5391150" cy="3234689"/>
                  <a:chOff x="3722452" y="2184583"/>
                  <a:chExt cx="5391150" cy="3234689"/>
                </a:xfrm>
              </p:grpSpPr>
              <p:sp>
                <p:nvSpPr>
                  <p:cNvPr id="116" name="Google Shape;116;p2"/>
                  <p:cNvSpPr/>
                  <p:nvPr/>
                </p:nvSpPr>
                <p:spPr>
                  <a:xfrm>
                    <a:off x="3722452" y="2184583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" name="Google Shape;117;p2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" name="Google Shape;118;p2"/>
                  <p:cNvSpPr/>
                  <p:nvPr/>
                </p:nvSpPr>
                <p:spPr>
                  <a:xfrm>
                    <a:off x="8075739" y="2243751"/>
                    <a:ext cx="478977" cy="5899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" name="Google Shape;119;p2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120" name="Google Shape;120;p2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21" name="Google Shape;121;p2"/>
            <p:cNvSpPr/>
            <p:nvPr/>
          </p:nvSpPr>
          <p:spPr>
            <a:xfrm>
              <a:off x="3606840" y="1940570"/>
              <a:ext cx="4719485" cy="2867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Tic-Tac-Toe Game: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 console-based version of the classic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Tic-Tac-Toe game where two players can compete against each other.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250924" y="2811736"/>
              <a:ext cx="239730" cy="254186"/>
            </a:xfrm>
            <a:prstGeom prst="roundRect">
              <a:avLst>
                <a:gd fmla="val 19231" name="adj"/>
              </a:avLst>
            </a:prstGeom>
            <a:solidFill>
              <a:srgbClr val="0067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580954" y="1580107"/>
              <a:ext cx="2996266" cy="73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Introduction.exe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76866" y="1837473"/>
              <a:ext cx="210683" cy="210683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8282284" y="1056133"/>
            <a:ext cx="2973432" cy="3349509"/>
            <a:chOff x="5820154" y="1792224"/>
            <a:chExt cx="2409443" cy="2596893"/>
          </a:xfrm>
        </p:grpSpPr>
        <p:grpSp>
          <p:nvGrpSpPr>
            <p:cNvPr id="126" name="Google Shape;126;p2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127" name="Google Shape;127;p2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2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Tictactoe.jpg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2"/>
          <p:cNvPicPr preferRelativeResize="0"/>
          <p:nvPr/>
        </p:nvPicPr>
        <p:blipFill rotWithShape="1">
          <a:blip r:embed="rId3">
            <a:alphaModFix/>
          </a:blip>
          <a:srcRect b="12546" l="7987" r="4248" t="16733"/>
          <a:stretch/>
        </p:blipFill>
        <p:spPr>
          <a:xfrm>
            <a:off x="8420532" y="1721647"/>
            <a:ext cx="2735040" cy="2575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"/>
          <p:cNvCxnSpPr/>
          <p:nvPr/>
        </p:nvCxnSpPr>
        <p:spPr>
          <a:xfrm>
            <a:off x="646268" y="804523"/>
            <a:ext cx="11013080" cy="25103"/>
          </a:xfrm>
          <a:prstGeom prst="straightConnector1">
            <a:avLst/>
          </a:prstGeom>
          <a:noFill/>
          <a:ln cap="flat" cmpd="sng" w="12700">
            <a:solidFill>
              <a:srgbClr val="7F7F7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2"/>
          <p:cNvSpPr/>
          <p:nvPr/>
        </p:nvSpPr>
        <p:spPr>
          <a:xfrm>
            <a:off x="736755" y="49699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11529767" y="656759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2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139" name="Google Shape;139;p2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140" name="Google Shape;140;p2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141" name="Google Shape;141;p2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142" name="Google Shape;142;p2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143" name="Google Shape;143;p2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144" name="Google Shape;144;p2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640080" y="548640"/>
            <a:ext cx="10908792" cy="576072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41248" y="67665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1143000" y="548640"/>
            <a:ext cx="9537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TIC TAC TOE.exe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1068019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0954512" y="649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1122883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3"/>
          <p:cNvCxnSpPr/>
          <p:nvPr/>
        </p:nvCxnSpPr>
        <p:spPr>
          <a:xfrm>
            <a:off x="777240" y="1005840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3"/>
          <p:cNvSpPr/>
          <p:nvPr/>
        </p:nvSpPr>
        <p:spPr>
          <a:xfrm>
            <a:off x="1143000" y="1376991"/>
            <a:ext cx="9902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Points &amp; Overview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143000" y="2240280"/>
            <a:ext cx="457200" cy="457200"/>
          </a:xfrm>
          <a:prstGeom prst="roundRect">
            <a:avLst>
              <a:gd fmla="val 22000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14300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783080" y="2185416"/>
            <a:ext cx="8897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Procedural C Programming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783080" y="2496312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using the C programming language.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modular functions and procedural programming concepts.</a:t>
            </a:r>
            <a:endParaRPr/>
          </a:p>
        </p:txBody>
      </p:sp>
      <p:cxnSp>
        <p:nvCxnSpPr>
          <p:cNvPr id="162" name="Google Shape;162;p3"/>
          <p:cNvCxnSpPr/>
          <p:nvPr/>
        </p:nvCxnSpPr>
        <p:spPr>
          <a:xfrm>
            <a:off x="1143000" y="3063240"/>
            <a:ext cx="990295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"/>
          <p:cNvSpPr/>
          <p:nvPr/>
        </p:nvSpPr>
        <p:spPr>
          <a:xfrm>
            <a:off x="1143000" y="3200400"/>
            <a:ext cx="457200" cy="457200"/>
          </a:xfrm>
          <a:prstGeom prst="roundRect">
            <a:avLst>
              <a:gd fmla="val 22000" name="adj"/>
            </a:avLst>
          </a:prstGeom>
          <a:solidFill>
            <a:srgbClr val="6B3F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114300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1783080" y="3145536"/>
            <a:ext cx="8897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50"/>
              <a:buFont typeface="Quattrocento Sans"/>
              <a:buNone/>
            </a:pPr>
            <a:r>
              <a:rPr b="1" lang="en-US" sz="155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Classic Gameplay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783080" y="3456432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Traditional 3 x 3 Tic-Tac-Toe game for two players.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Players take turns placing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1143000" y="4023360"/>
            <a:ext cx="990295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3"/>
          <p:cNvSpPr/>
          <p:nvPr/>
        </p:nvSpPr>
        <p:spPr>
          <a:xfrm>
            <a:off x="1143000" y="4160520"/>
            <a:ext cx="457200" cy="457200"/>
          </a:xfrm>
          <a:prstGeom prst="roundRect">
            <a:avLst>
              <a:gd fmla="val 22000" name="adj"/>
            </a:avLst>
          </a:prstGeom>
          <a:solidFill>
            <a:srgbClr val="E300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14300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783080" y="4105656"/>
            <a:ext cx="8897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50"/>
              <a:buFont typeface="Quattrocento Sans"/>
              <a:buNone/>
            </a:pPr>
            <a:r>
              <a:rPr b="1" lang="en-US" sz="155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Validation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783080" y="4416552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Validates player inputs to prevent invalid moves.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smooth, reliable and user-friendly gameplay.</a:t>
            </a:r>
            <a:endParaRPr/>
          </a:p>
        </p:txBody>
      </p:sp>
      <p:cxnSp>
        <p:nvCxnSpPr>
          <p:cNvPr id="172" name="Google Shape;172;p3"/>
          <p:cNvCxnSpPr/>
          <p:nvPr/>
        </p:nvCxnSpPr>
        <p:spPr>
          <a:xfrm>
            <a:off x="1143000" y="4983480"/>
            <a:ext cx="990295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3"/>
          <p:cNvSpPr/>
          <p:nvPr/>
        </p:nvSpPr>
        <p:spPr>
          <a:xfrm>
            <a:off x="1143000" y="5120640"/>
            <a:ext cx="457200" cy="457200"/>
          </a:xfrm>
          <a:prstGeom prst="roundRect">
            <a:avLst>
              <a:gd fmla="val 22000" name="adj"/>
            </a:avLst>
          </a:prstGeom>
          <a:solidFill>
            <a:srgbClr val="00B7C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1143000" y="5120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1783080" y="5065776"/>
            <a:ext cx="8897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50"/>
              <a:buFont typeface="Quattrocento Sans"/>
              <a:buNone/>
            </a:pPr>
            <a:r>
              <a:rPr b="1" lang="en-US" sz="155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Winning Conditions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1783080" y="5376672"/>
            <a:ext cx="889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horizontal, vertical and diagonal winning patterns.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Declares a draw when the board is full without a winner.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3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179" name="Google Shape;179;p3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180" name="Google Shape;180;p3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181" name="Google Shape;181;p3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182" name="Google Shape;182;p3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183" name="Google Shape;183;p3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184" name="Google Shape;184;p3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640080" y="548640"/>
            <a:ext cx="10908792" cy="576072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41248" y="67665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143000" y="548640"/>
            <a:ext cx="9537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TIC TAC TOE.exe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068019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0954512" y="631033"/>
            <a:ext cx="274320" cy="292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122883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4"/>
          <p:cNvCxnSpPr/>
          <p:nvPr/>
        </p:nvCxnSpPr>
        <p:spPr>
          <a:xfrm>
            <a:off x="777240" y="1005840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4"/>
          <p:cNvSpPr/>
          <p:nvPr/>
        </p:nvSpPr>
        <p:spPr>
          <a:xfrm>
            <a:off x="1508760" y="1901675"/>
            <a:ext cx="9902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Quattrocento Sans"/>
              <a:buNone/>
            </a:pPr>
            <a:r>
              <a:rPr b="1" lang="en-US" sz="28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 of Gameplay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14300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1783080" y="2185416"/>
            <a:ext cx="8897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114300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14300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143000" y="5120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Quattrocento Sans"/>
              <a:buNone/>
            </a:pPr>
            <a:r>
              <a:rPr b="1" lang="en-US" sz="15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1371600" y="2660350"/>
            <a:ext cx="8897112" cy="2042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Declaring a 1D array as a 3x3 board for the game.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Implemented a function to display, clear and refresh the board each round.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the main loop-to keep the game running until a win or draw is declared.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●"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Added player switching logic - Alternates turns between player 1 and player 2 which ensures fair and smooth gameplay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4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206" name="Google Shape;206;p4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207" name="Google Shape;207;p4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211" name="Google Shape;211;p4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646268" y="1056133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169417" y="3314274"/>
            <a:ext cx="830226" cy="9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5"/>
          <p:cNvGrpSpPr/>
          <p:nvPr/>
        </p:nvGrpSpPr>
        <p:grpSpPr>
          <a:xfrm>
            <a:off x="283832" y="194404"/>
            <a:ext cx="11624335" cy="6313314"/>
            <a:chOff x="-276800" y="-129309"/>
            <a:chExt cx="12964033" cy="7114309"/>
          </a:xfrm>
        </p:grpSpPr>
        <p:sp>
          <p:nvSpPr>
            <p:cNvPr id="220" name="Google Shape;220;p5"/>
            <p:cNvSpPr/>
            <p:nvPr/>
          </p:nvSpPr>
          <p:spPr>
            <a:xfrm>
              <a:off x="-276800" y="-129309"/>
              <a:ext cx="12964033" cy="7114309"/>
            </a:xfrm>
            <a:prstGeom prst="roundRect">
              <a:avLst>
                <a:gd fmla="val 685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9525">
              <a:solidFill>
                <a:srgbClr val="F5F7F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11142822" y="151063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1641582" y="161892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300"/>
                <a:buFont typeface="Quattrocento Sans"/>
                <a:buNone/>
              </a:pPr>
              <a:r>
                <a:rPr lang="en-US" sz="16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12135417" y="149622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39915" y="231210"/>
              <a:ext cx="201168" cy="201168"/>
            </a:xfrm>
            <a:prstGeom prst="roundRect">
              <a:avLst>
                <a:gd fmla="val 2272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541667" y="103194"/>
              <a:ext cx="6720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/>
            </a:p>
          </p:txBody>
        </p:sp>
      </p:grpSp>
      <p:grpSp>
        <p:nvGrpSpPr>
          <p:cNvPr id="226" name="Google Shape;226;p5"/>
          <p:cNvGrpSpPr/>
          <p:nvPr/>
        </p:nvGrpSpPr>
        <p:grpSpPr>
          <a:xfrm>
            <a:off x="4454708" y="4875796"/>
            <a:ext cx="7204639" cy="1259835"/>
            <a:chOff x="9197480" y="1331331"/>
            <a:chExt cx="2542032" cy="1417320"/>
          </a:xfrm>
        </p:grpSpPr>
        <p:grpSp>
          <p:nvGrpSpPr>
            <p:cNvPr id="227" name="Google Shape;227;p5"/>
            <p:cNvGrpSpPr/>
            <p:nvPr/>
          </p:nvGrpSpPr>
          <p:grpSpPr>
            <a:xfrm>
              <a:off x="9197480" y="1331331"/>
              <a:ext cx="2542032" cy="1417320"/>
              <a:chOff x="9197480" y="1331331"/>
              <a:chExt cx="2542032" cy="1417320"/>
            </a:xfrm>
          </p:grpSpPr>
          <p:sp>
            <p:nvSpPr>
              <p:cNvPr id="228" name="Google Shape;228;p5"/>
              <p:cNvSpPr/>
              <p:nvPr/>
            </p:nvSpPr>
            <p:spPr>
              <a:xfrm>
                <a:off x="9197480" y="1331331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.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1087083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11145152" y="1378483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1141947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33" name="Google Shape;233;p5"/>
            <p:cNvCxnSpPr/>
            <p:nvPr/>
          </p:nvCxnSpPr>
          <p:spPr>
            <a:xfrm>
              <a:off x="9334640" y="1715379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4" name="Google Shape;234;p5"/>
          <p:cNvGrpSpPr/>
          <p:nvPr/>
        </p:nvGrpSpPr>
        <p:grpSpPr>
          <a:xfrm>
            <a:off x="724984" y="1383616"/>
            <a:ext cx="6711444" cy="3881210"/>
            <a:chOff x="2917330" y="1521383"/>
            <a:chExt cx="6376469" cy="3687495"/>
          </a:xfrm>
        </p:grpSpPr>
        <p:grpSp>
          <p:nvGrpSpPr>
            <p:cNvPr id="235" name="Google Shape;235;p5"/>
            <p:cNvGrpSpPr/>
            <p:nvPr/>
          </p:nvGrpSpPr>
          <p:grpSpPr>
            <a:xfrm>
              <a:off x="2917330" y="1521383"/>
              <a:ext cx="6376469" cy="3687495"/>
              <a:chOff x="1414683" y="1382753"/>
              <a:chExt cx="6376469" cy="3687495"/>
            </a:xfrm>
          </p:grpSpPr>
          <p:grpSp>
            <p:nvGrpSpPr>
              <p:cNvPr id="236" name="Google Shape;236;p5"/>
              <p:cNvGrpSpPr/>
              <p:nvPr/>
            </p:nvGrpSpPr>
            <p:grpSpPr>
              <a:xfrm>
                <a:off x="2400002" y="183555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237" name="Google Shape;237;p5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238" name="Google Shape;238;p5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" name="Google Shape;239;p5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0" name="Google Shape;240;p5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1" name="Google Shape;241;p5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242" name="Google Shape;242;p5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43" name="Google Shape;243;p5"/>
              <p:cNvGrpSpPr/>
              <p:nvPr/>
            </p:nvGrpSpPr>
            <p:grpSpPr>
              <a:xfrm>
                <a:off x="1924666" y="158790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244" name="Google Shape;244;p5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245" name="Google Shape;245;p5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" name="Google Shape;246;p5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" name="Google Shape;247;p5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" name="Google Shape;248;p5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249" name="Google Shape;249;p5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50" name="Google Shape;250;p5"/>
              <p:cNvGrpSpPr/>
              <p:nvPr/>
            </p:nvGrpSpPr>
            <p:grpSpPr>
              <a:xfrm>
                <a:off x="1414683" y="1382753"/>
                <a:ext cx="5391150" cy="3234689"/>
                <a:chOff x="3722451" y="2184583"/>
                <a:chExt cx="5391150" cy="3234689"/>
              </a:xfrm>
            </p:grpSpPr>
            <p:grpSp>
              <p:nvGrpSpPr>
                <p:cNvPr id="251" name="Google Shape;251;p5"/>
                <p:cNvGrpSpPr/>
                <p:nvPr/>
              </p:nvGrpSpPr>
              <p:grpSpPr>
                <a:xfrm>
                  <a:off x="3722451" y="2184583"/>
                  <a:ext cx="5391150" cy="3234689"/>
                  <a:chOff x="3722451" y="2184583"/>
                  <a:chExt cx="5391150" cy="3234689"/>
                </a:xfrm>
              </p:grpSpPr>
              <p:sp>
                <p:nvSpPr>
                  <p:cNvPr id="252" name="Google Shape;252;p5"/>
                  <p:cNvSpPr/>
                  <p:nvPr/>
                </p:nvSpPr>
                <p:spPr>
                  <a:xfrm>
                    <a:off x="3722451" y="2184583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" name="Google Shape;253;p5"/>
                  <p:cNvSpPr/>
                  <p:nvPr/>
                </p:nvSpPr>
                <p:spPr>
                  <a:xfrm>
                    <a:off x="7682577" y="2279174"/>
                    <a:ext cx="479100" cy="517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5"/>
                  <p:cNvSpPr/>
                  <p:nvPr/>
                </p:nvSpPr>
                <p:spPr>
                  <a:xfrm>
                    <a:off x="8106945" y="2248123"/>
                    <a:ext cx="479100" cy="589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" name="Google Shape;255;p5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256" name="Google Shape;256;p5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257" name="Google Shape;257;p5"/>
            <p:cNvSpPr/>
            <p:nvPr/>
          </p:nvSpPr>
          <p:spPr>
            <a:xfrm>
              <a:off x="4089774" y="2312437"/>
              <a:ext cx="4249712" cy="1955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Program Flow </a:t>
              </a:r>
              <a:r>
                <a:rPr b="1" lang="en-US" sz="3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&amp; </a:t>
              </a:r>
              <a:endParaRPr b="1"/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Game Board Design</a:t>
              </a:r>
              <a:endParaRPr b="1" sz="3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3579791" y="2854346"/>
              <a:ext cx="337624" cy="337624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3580954" y="1580107"/>
              <a:ext cx="2996266" cy="73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Section 1 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76866" y="1846522"/>
              <a:ext cx="210683" cy="210683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5"/>
          <p:cNvGrpSpPr/>
          <p:nvPr/>
        </p:nvGrpSpPr>
        <p:grpSpPr>
          <a:xfrm>
            <a:off x="8282284" y="1056133"/>
            <a:ext cx="2973432" cy="3349509"/>
            <a:chOff x="5820154" y="1792224"/>
            <a:chExt cx="2409443" cy="2596893"/>
          </a:xfrm>
        </p:grpSpPr>
        <p:grpSp>
          <p:nvGrpSpPr>
            <p:cNvPr id="262" name="Google Shape;262;p5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263" name="Google Shape;263;p5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" name="Google Shape;269;p5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TicTacToe.jpg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5"/>
          <p:cNvSpPr/>
          <p:nvPr/>
        </p:nvSpPr>
        <p:spPr>
          <a:xfrm>
            <a:off x="736755" y="49699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11529767" y="656759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5"/>
          <p:cNvCxnSpPr/>
          <p:nvPr/>
        </p:nvCxnSpPr>
        <p:spPr>
          <a:xfrm>
            <a:off x="646268" y="804523"/>
            <a:ext cx="11013080" cy="25103"/>
          </a:xfrm>
          <a:prstGeom prst="straightConnector1">
            <a:avLst/>
          </a:prstGeom>
          <a:noFill/>
          <a:ln cap="flat" cmpd="sng" w="12700">
            <a:solidFill>
              <a:srgbClr val="7F7F7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3" name="Google Shape;273;p5"/>
          <p:cNvPicPr preferRelativeResize="0"/>
          <p:nvPr/>
        </p:nvPicPr>
        <p:blipFill rotWithShape="1">
          <a:blip r:embed="rId3">
            <a:alphaModFix/>
          </a:blip>
          <a:srcRect b="12546" l="7987" r="4248" t="16733"/>
          <a:stretch/>
        </p:blipFill>
        <p:spPr>
          <a:xfrm>
            <a:off x="8420532" y="1721647"/>
            <a:ext cx="2735040" cy="2575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velop Icons, Logos, Symbols – Free Download PNG, SVG" id="274" name="Google Shape;2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7911" y="3381118"/>
            <a:ext cx="375912" cy="375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5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277" name="Google Shape;277;p5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278" name="Google Shape;278;p5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279" name="Google Shape;279;p5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280" name="Google Shape;280;p5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281" name="Google Shape;281;p5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6B3F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66547" y="4368241"/>
            <a:ext cx="521208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draw_Board ( ) 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 was designed to be simple and clear. We used vertical bars ( | ) and horizontal dashes (- - -) to create a recognizable 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3x3 grid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ensures that the screen refreshes every turn.</a:t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6263640" y="548640"/>
            <a:ext cx="5285232" cy="5760720"/>
          </a:xfrm>
          <a:prstGeom prst="roundRect">
            <a:avLst>
              <a:gd fmla="val 2076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6464808" y="67665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6B3F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6766560" y="548640"/>
            <a:ext cx="3913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preview.png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1068019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10954512" y="631032"/>
            <a:ext cx="274320" cy="292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11228832" y="64922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6"/>
          <p:cNvCxnSpPr/>
          <p:nvPr/>
        </p:nvCxnSpPr>
        <p:spPr>
          <a:xfrm>
            <a:off x="6400800" y="1005840"/>
            <a:ext cx="501091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6"/>
          <p:cNvSpPr/>
          <p:nvPr/>
        </p:nvSpPr>
        <p:spPr>
          <a:xfrm>
            <a:off x="6583680" y="4297680"/>
            <a:ext cx="2276856" cy="1280160"/>
          </a:xfrm>
          <a:prstGeom prst="roundRect">
            <a:avLst>
              <a:gd fmla="val 6429" name="adj"/>
            </a:avLst>
          </a:prstGeom>
          <a:solidFill>
            <a:srgbClr val="FAFAFA"/>
          </a:solidFill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6583680" y="4434840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7C0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0067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6583680" y="4983480"/>
            <a:ext cx="2276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50"/>
              <a:buFont typeface="Quattrocento Sans"/>
              <a:buNone/>
            </a:pPr>
            <a:r>
              <a:rPr lang="en-US" sz="105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Programming Language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8951976" y="4297680"/>
            <a:ext cx="2276856" cy="1280160"/>
          </a:xfrm>
          <a:prstGeom prst="roundRect">
            <a:avLst>
              <a:gd fmla="val 6429" name="adj"/>
            </a:avLst>
          </a:prstGeom>
          <a:solidFill>
            <a:srgbClr val="FAFAFA"/>
          </a:solidFill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8951976" y="4434840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008C"/>
              </a:buClr>
              <a:buSzPts val="2600"/>
              <a:buFont typeface="Quattrocento Sans"/>
              <a:buNone/>
            </a:pPr>
            <a:r>
              <a:rPr b="1" lang="en-US" sz="2600">
                <a:solidFill>
                  <a:srgbClr val="E300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8951976" y="4983480"/>
            <a:ext cx="2276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50"/>
              <a:buFont typeface="Quattrocento Sans"/>
              <a:buNone/>
            </a:pPr>
            <a:r>
              <a:rPr lang="en-US" sz="105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469392" y="1017358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b="1" lang="en-US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game follows a “top-down” design: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Input :</a:t>
            </a:r>
            <a:r>
              <a:rPr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Get the number from the player.</a:t>
            </a:r>
            <a:endParaRPr/>
          </a:p>
          <a:p>
            <a:pPr indent="-247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</a:t>
            </a:r>
            <a:r>
              <a:rPr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Update the 1D array and check the rules.</a:t>
            </a:r>
            <a:endParaRPr/>
          </a:p>
          <a:p>
            <a:pPr indent="-247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1"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Output : </a:t>
            </a:r>
            <a:r>
              <a:rPr lang="en-US" sz="15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the new board with ‘X’ or ‘O’ in the cell.</a:t>
            </a:r>
            <a:endParaRPr/>
          </a:p>
          <a:p>
            <a:pPr indent="-247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design ensures the board to be shown clearly with the spaces and also exchanges the numbered cells with the Character or Symbol which the user already input.</a:t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4" name="Google Shape;3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7432" y="1143000"/>
            <a:ext cx="2520047" cy="3054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6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306" name="Google Shape;306;p6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307" name="Google Shape;307;p6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308" name="Google Shape;308;p6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309" name="Google Shape;309;p6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310" name="Google Shape;310;p6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311" name="Google Shape;311;p6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/>
          <p:nvPr/>
        </p:nvSpPr>
        <p:spPr>
          <a:xfrm>
            <a:off x="646268" y="1056133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169417" y="3314274"/>
            <a:ext cx="830226" cy="9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7"/>
          <p:cNvGrpSpPr/>
          <p:nvPr/>
        </p:nvGrpSpPr>
        <p:grpSpPr>
          <a:xfrm>
            <a:off x="283832" y="194404"/>
            <a:ext cx="11624335" cy="6313314"/>
            <a:chOff x="-276800" y="-129309"/>
            <a:chExt cx="12964033" cy="7114309"/>
          </a:xfrm>
        </p:grpSpPr>
        <p:sp>
          <p:nvSpPr>
            <p:cNvPr id="320" name="Google Shape;320;p7"/>
            <p:cNvSpPr/>
            <p:nvPr/>
          </p:nvSpPr>
          <p:spPr>
            <a:xfrm>
              <a:off x="-276800" y="-129309"/>
              <a:ext cx="12964033" cy="7114309"/>
            </a:xfrm>
            <a:prstGeom prst="roundRect">
              <a:avLst>
                <a:gd fmla="val 685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9525">
              <a:solidFill>
                <a:srgbClr val="F5F7F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11115880" y="148621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11641582" y="153111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300"/>
                <a:buFont typeface="Quattrocento Sans"/>
                <a:buNone/>
              </a:pPr>
              <a:r>
                <a:rPr lang="en-US" sz="18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2135417" y="149622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39915" y="231210"/>
              <a:ext cx="201168" cy="201168"/>
            </a:xfrm>
            <a:prstGeom prst="roundRect">
              <a:avLst>
                <a:gd fmla="val 2272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541667" y="103194"/>
              <a:ext cx="6720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7"/>
          <p:cNvGrpSpPr/>
          <p:nvPr/>
        </p:nvGrpSpPr>
        <p:grpSpPr>
          <a:xfrm>
            <a:off x="4454708" y="4875796"/>
            <a:ext cx="7204639" cy="1259835"/>
            <a:chOff x="9197480" y="1331331"/>
            <a:chExt cx="2542032" cy="1417320"/>
          </a:xfrm>
        </p:grpSpPr>
        <p:grpSp>
          <p:nvGrpSpPr>
            <p:cNvPr id="327" name="Google Shape;327;p7"/>
            <p:cNvGrpSpPr/>
            <p:nvPr/>
          </p:nvGrpSpPr>
          <p:grpSpPr>
            <a:xfrm>
              <a:off x="9197480" y="1331331"/>
              <a:ext cx="2542032" cy="1417320"/>
              <a:chOff x="9197480" y="1331331"/>
              <a:chExt cx="2542032" cy="1417320"/>
            </a:xfrm>
          </p:grpSpPr>
          <p:sp>
            <p:nvSpPr>
              <p:cNvPr id="328" name="Google Shape;328;p7"/>
              <p:cNvSpPr/>
              <p:nvPr/>
            </p:nvSpPr>
            <p:spPr>
              <a:xfrm>
                <a:off x="9197480" y="1331331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.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1087083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7"/>
              <p:cNvSpPr/>
              <p:nvPr/>
            </p:nvSpPr>
            <p:spPr>
              <a:xfrm>
                <a:off x="11145152" y="1378483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1141947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33" name="Google Shape;333;p7"/>
            <p:cNvCxnSpPr/>
            <p:nvPr/>
          </p:nvCxnSpPr>
          <p:spPr>
            <a:xfrm>
              <a:off x="9334640" y="1715379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34" name="Google Shape;334;p7"/>
          <p:cNvGrpSpPr/>
          <p:nvPr/>
        </p:nvGrpSpPr>
        <p:grpSpPr>
          <a:xfrm>
            <a:off x="724984" y="1383616"/>
            <a:ext cx="6711444" cy="3881210"/>
            <a:chOff x="2917330" y="1521383"/>
            <a:chExt cx="6376469" cy="3687495"/>
          </a:xfrm>
        </p:grpSpPr>
        <p:grpSp>
          <p:nvGrpSpPr>
            <p:cNvPr id="335" name="Google Shape;335;p7"/>
            <p:cNvGrpSpPr/>
            <p:nvPr/>
          </p:nvGrpSpPr>
          <p:grpSpPr>
            <a:xfrm>
              <a:off x="2917330" y="1521383"/>
              <a:ext cx="6376469" cy="3687495"/>
              <a:chOff x="1414683" y="1382753"/>
              <a:chExt cx="6376469" cy="3687495"/>
            </a:xfrm>
          </p:grpSpPr>
          <p:grpSp>
            <p:nvGrpSpPr>
              <p:cNvPr id="336" name="Google Shape;336;p7"/>
              <p:cNvGrpSpPr/>
              <p:nvPr/>
            </p:nvGrpSpPr>
            <p:grpSpPr>
              <a:xfrm>
                <a:off x="2400002" y="183555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337" name="Google Shape;337;p7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338" name="Google Shape;338;p7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7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7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" name="Google Shape;341;p7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42" name="Google Shape;342;p7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43" name="Google Shape;343;p7"/>
              <p:cNvGrpSpPr/>
              <p:nvPr/>
            </p:nvGrpSpPr>
            <p:grpSpPr>
              <a:xfrm>
                <a:off x="1924666" y="158790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344" name="Google Shape;344;p7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345" name="Google Shape;345;p7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" name="Google Shape;346;p7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" name="Google Shape;347;p7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" name="Google Shape;348;p7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49" name="Google Shape;349;p7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50" name="Google Shape;350;p7"/>
              <p:cNvGrpSpPr/>
              <p:nvPr/>
            </p:nvGrpSpPr>
            <p:grpSpPr>
              <a:xfrm>
                <a:off x="1414683" y="1382753"/>
                <a:ext cx="5391150" cy="3234689"/>
                <a:chOff x="3722451" y="2184583"/>
                <a:chExt cx="5391150" cy="3234689"/>
              </a:xfrm>
            </p:grpSpPr>
            <p:grpSp>
              <p:nvGrpSpPr>
                <p:cNvPr id="351" name="Google Shape;351;p7"/>
                <p:cNvGrpSpPr/>
                <p:nvPr/>
              </p:nvGrpSpPr>
              <p:grpSpPr>
                <a:xfrm>
                  <a:off x="3722451" y="2184583"/>
                  <a:ext cx="5391150" cy="3234689"/>
                  <a:chOff x="3722451" y="2184583"/>
                  <a:chExt cx="5391150" cy="3234689"/>
                </a:xfrm>
              </p:grpSpPr>
              <p:sp>
                <p:nvSpPr>
                  <p:cNvPr id="352" name="Google Shape;352;p7"/>
                  <p:cNvSpPr/>
                  <p:nvPr/>
                </p:nvSpPr>
                <p:spPr>
                  <a:xfrm>
                    <a:off x="3722451" y="2184583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" name="Google Shape;353;p7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" name="Google Shape;354;p7"/>
                  <p:cNvSpPr/>
                  <p:nvPr/>
                </p:nvSpPr>
                <p:spPr>
                  <a:xfrm>
                    <a:off x="8075739" y="2243751"/>
                    <a:ext cx="478977" cy="5899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5" name="Google Shape;355;p7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56" name="Google Shape;356;p7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357" name="Google Shape;357;p7"/>
            <p:cNvSpPr/>
            <p:nvPr/>
          </p:nvSpPr>
          <p:spPr>
            <a:xfrm>
              <a:off x="4260141" y="3046702"/>
              <a:ext cx="2902500" cy="5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1B1B"/>
                </a:buClr>
                <a:buSzPts val="3600"/>
                <a:buFont typeface="Quattrocento Sans"/>
                <a:buNone/>
              </a:pPr>
              <a:r>
                <a:rPr b="1" lang="en-US" sz="36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Game Logic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759114" y="3198182"/>
              <a:ext cx="337500" cy="337500"/>
            </a:xfrm>
            <a:prstGeom prst="roundRect">
              <a:avLst>
                <a:gd fmla="val 19231" name="adj"/>
              </a:avLst>
            </a:prstGeom>
            <a:solidFill>
              <a:srgbClr val="E3008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580954" y="1580107"/>
              <a:ext cx="2996266" cy="73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Section 2.exe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276866" y="1846522"/>
              <a:ext cx="210683" cy="210683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7"/>
          <p:cNvGrpSpPr/>
          <p:nvPr/>
        </p:nvGrpSpPr>
        <p:grpSpPr>
          <a:xfrm>
            <a:off x="8282284" y="1056133"/>
            <a:ext cx="2973432" cy="3349509"/>
            <a:chOff x="5820154" y="1792224"/>
            <a:chExt cx="2409443" cy="2596893"/>
          </a:xfrm>
        </p:grpSpPr>
        <p:grpSp>
          <p:nvGrpSpPr>
            <p:cNvPr id="362" name="Google Shape;362;p7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363" name="Google Shape;363;p7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7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" name="Google Shape;369;p7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TicTacToe.jpg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0" name="Google Shape;370;p7"/>
          <p:cNvPicPr preferRelativeResize="0"/>
          <p:nvPr/>
        </p:nvPicPr>
        <p:blipFill rotWithShape="1">
          <a:blip r:embed="rId3">
            <a:alphaModFix/>
          </a:blip>
          <a:srcRect b="12546" l="7987" r="4248" t="16733"/>
          <a:stretch/>
        </p:blipFill>
        <p:spPr>
          <a:xfrm>
            <a:off x="8420532" y="1721647"/>
            <a:ext cx="2735040" cy="257529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7"/>
          <p:cNvSpPr/>
          <p:nvPr/>
        </p:nvSpPr>
        <p:spPr>
          <a:xfrm>
            <a:off x="736755" y="49699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11529767" y="656759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7"/>
          <p:cNvCxnSpPr/>
          <p:nvPr/>
        </p:nvCxnSpPr>
        <p:spPr>
          <a:xfrm>
            <a:off x="646268" y="804523"/>
            <a:ext cx="11013080" cy="25103"/>
          </a:xfrm>
          <a:prstGeom prst="straightConnector1">
            <a:avLst/>
          </a:prstGeom>
          <a:noFill/>
          <a:ln cap="flat" cmpd="sng" w="12700">
            <a:solidFill>
              <a:srgbClr val="7F7F7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7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375" name="Google Shape;375;p7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376" name="Google Shape;376;p7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377" name="Google Shape;377;p7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379" name="Google Shape;379;p7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380" name="Google Shape;380;p7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  <p:pic>
        <p:nvPicPr>
          <p:cNvPr id="381" name="Google Shape;38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7660" y="3155037"/>
            <a:ext cx="387350" cy="3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8"/>
          <p:cNvGrpSpPr/>
          <p:nvPr/>
        </p:nvGrpSpPr>
        <p:grpSpPr>
          <a:xfrm>
            <a:off x="270190" y="131444"/>
            <a:ext cx="11651283" cy="6367914"/>
            <a:chOff x="640080" y="548640"/>
            <a:chExt cx="10908792" cy="5760720"/>
          </a:xfrm>
        </p:grpSpPr>
        <p:sp>
          <p:nvSpPr>
            <p:cNvPr id="388" name="Google Shape;388;p8"/>
            <p:cNvSpPr/>
            <p:nvPr/>
          </p:nvSpPr>
          <p:spPr>
            <a:xfrm>
              <a:off x="640080" y="548640"/>
              <a:ext cx="10908792" cy="5760720"/>
            </a:xfrm>
            <a:prstGeom prst="roundRect">
              <a:avLst>
                <a:gd fmla="val 1905" name="adj"/>
              </a:avLst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41248" y="693761"/>
              <a:ext cx="201168" cy="201168"/>
            </a:xfrm>
            <a:prstGeom prst="roundRect">
              <a:avLst>
                <a:gd fmla="val 22727" name="adj"/>
              </a:avLst>
            </a:prstGeom>
            <a:solidFill>
              <a:srgbClr val="0067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143000" y="565745"/>
              <a:ext cx="95371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068019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0954512" y="631033"/>
              <a:ext cx="274320" cy="292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000"/>
                <a:buFont typeface="Quattrocento Sans"/>
                <a:buNone/>
              </a:pPr>
              <a:r>
                <a:rPr lang="en-US" sz="10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1122883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8"/>
          <p:cNvSpPr/>
          <p:nvPr/>
        </p:nvSpPr>
        <p:spPr>
          <a:xfrm>
            <a:off x="798682" y="88224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008C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E300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8"/>
          <p:cNvCxnSpPr/>
          <p:nvPr/>
        </p:nvCxnSpPr>
        <p:spPr>
          <a:xfrm>
            <a:off x="475488" y="6726555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621792" y="155905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24015" y="1464809"/>
            <a:ext cx="670548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game board is stored using a 1D character array: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 board[10];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Players enter a number from 1 to 9, which represents a specific cell on the board.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621792" y="339065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699910" y="2508222"/>
            <a:ext cx="787641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Then the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place_marker() 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 does two things: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if the slot is between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and 9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not already occupied by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 or O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Places the current player’s marker in the selected slot.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every move,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check_winner()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checks all possible winning combinations: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the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rows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the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columns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the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diagonals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any row, column, or diagonal has the same marker, the function returns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meaning a player has won.</a:t>
            </a:r>
            <a:endParaRPr/>
          </a:p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Mono"/>
              <a:buNone/>
            </a:pPr>
            <a:r>
              <a:t/>
            </a:r>
            <a:endParaRPr sz="1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01" name="Google Shape;401;p8"/>
          <p:cNvCxnSpPr/>
          <p:nvPr/>
        </p:nvCxnSpPr>
        <p:spPr>
          <a:xfrm>
            <a:off x="798682" y="758190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2" name="Google Shape;402;p8"/>
          <p:cNvGrpSpPr/>
          <p:nvPr/>
        </p:nvGrpSpPr>
        <p:grpSpPr>
          <a:xfrm>
            <a:off x="8289957" y="1805243"/>
            <a:ext cx="2973432" cy="3349509"/>
            <a:chOff x="5820154" y="1792224"/>
            <a:chExt cx="2409443" cy="2596893"/>
          </a:xfrm>
        </p:grpSpPr>
        <p:grpSp>
          <p:nvGrpSpPr>
            <p:cNvPr id="403" name="Google Shape;403;p8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404" name="Google Shape;404;p8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" name="Google Shape;410;p8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TicTacToe.png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1" name="Google Shape;4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5767" y="2213452"/>
            <a:ext cx="3222218" cy="3222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8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414" name="Google Shape;414;p8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416" name="Google Shape;416;p8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417" name="Google Shape;417;p8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418" name="Google Shape;418;p8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9"/>
          <p:cNvGrpSpPr/>
          <p:nvPr/>
        </p:nvGrpSpPr>
        <p:grpSpPr>
          <a:xfrm>
            <a:off x="270213" y="131443"/>
            <a:ext cx="11651681" cy="6392095"/>
            <a:chOff x="640080" y="548640"/>
            <a:chExt cx="10908792" cy="5760720"/>
          </a:xfrm>
        </p:grpSpPr>
        <p:sp>
          <p:nvSpPr>
            <p:cNvPr id="425" name="Google Shape;425;p9"/>
            <p:cNvSpPr/>
            <p:nvPr/>
          </p:nvSpPr>
          <p:spPr>
            <a:xfrm>
              <a:off x="640080" y="548640"/>
              <a:ext cx="10908792" cy="5760720"/>
            </a:xfrm>
            <a:prstGeom prst="roundRect">
              <a:avLst>
                <a:gd fmla="val 1905" name="adj"/>
              </a:avLst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841248" y="693761"/>
              <a:ext cx="201168" cy="201168"/>
            </a:xfrm>
            <a:prstGeom prst="roundRect">
              <a:avLst>
                <a:gd fmla="val 22727" name="adj"/>
              </a:avLst>
            </a:prstGeom>
            <a:solidFill>
              <a:srgbClr val="0067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143000" y="565745"/>
              <a:ext cx="95371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068019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0954512" y="631033"/>
              <a:ext cx="274320" cy="292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000"/>
                <a:buFont typeface="Quattrocento Sans"/>
                <a:buNone/>
              </a:pPr>
              <a:r>
                <a:rPr lang="en-US" sz="10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122883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9"/>
          <p:cNvSpPr/>
          <p:nvPr/>
        </p:nvSpPr>
        <p:spPr>
          <a:xfrm>
            <a:off x="798682" y="88224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008C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E300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9"/>
          <p:cNvCxnSpPr/>
          <p:nvPr/>
        </p:nvCxnSpPr>
        <p:spPr>
          <a:xfrm>
            <a:off x="475488" y="6726555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21792" y="155905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1084300" y="2999974"/>
            <a:ext cx="73152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Draws the board and asks the current player to enter a slot number.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Validates the input to make sure the player enters a number.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Places the marker if the selected slot is valid.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Counts the turn after a successful move.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for a winner or a draw after every move. 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the game is still ongoing, switches the turn between Player 1 (X) and Player 2 (O).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6" name="Google Shape;436;p9"/>
          <p:cNvSpPr txBox="1"/>
          <p:nvPr/>
        </p:nvSpPr>
        <p:spPr>
          <a:xfrm>
            <a:off x="693701" y="758200"/>
            <a:ext cx="74253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 Game Loop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while loop keeps the game running until there is a win or draw.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Then the loop does these things in order:</a:t>
            </a:r>
            <a:endParaRPr sz="1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</a:t>
            </a:r>
            <a:endParaRPr sz="1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Mono"/>
              <a:buNone/>
            </a:pPr>
            <a:r>
              <a:t/>
            </a: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37" name="Google Shape;437;p9"/>
          <p:cNvCxnSpPr/>
          <p:nvPr/>
        </p:nvCxnSpPr>
        <p:spPr>
          <a:xfrm>
            <a:off x="798682" y="758190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8" name="Google Shape;438;p9"/>
          <p:cNvGrpSpPr/>
          <p:nvPr/>
        </p:nvGrpSpPr>
        <p:grpSpPr>
          <a:xfrm>
            <a:off x="8350422" y="1758908"/>
            <a:ext cx="2973494" cy="3349473"/>
            <a:chOff x="5820154" y="1792224"/>
            <a:chExt cx="2409443" cy="2596893"/>
          </a:xfrm>
        </p:grpSpPr>
        <p:grpSp>
          <p:nvGrpSpPr>
            <p:cNvPr id="439" name="Google Shape;439;p9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440" name="Google Shape;440;p9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9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9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9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6" name="Google Shape;446;p9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</a:t>
              </a: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.png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7" name="Google Shape;4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2658" y="2217256"/>
            <a:ext cx="3222219" cy="32222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8" name="Google Shape;448;p9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449" name="Google Shape;449;p9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450" name="Google Shape;450;p9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451" name="Google Shape;451;p9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452" name="Google Shape;452;p9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453" name="Google Shape;453;p9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454" name="Google Shape;454;p9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"/>
          <p:cNvSpPr/>
          <p:nvPr/>
        </p:nvSpPr>
        <p:spPr>
          <a:xfrm>
            <a:off x="646268" y="1056133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169417" y="3314274"/>
            <a:ext cx="830226" cy="9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10"/>
          <p:cNvGrpSpPr/>
          <p:nvPr/>
        </p:nvGrpSpPr>
        <p:grpSpPr>
          <a:xfrm>
            <a:off x="283832" y="194404"/>
            <a:ext cx="11624335" cy="6313314"/>
            <a:chOff x="-276800" y="-129309"/>
            <a:chExt cx="12964033" cy="7114309"/>
          </a:xfrm>
        </p:grpSpPr>
        <p:sp>
          <p:nvSpPr>
            <p:cNvPr id="463" name="Google Shape;463;p10"/>
            <p:cNvSpPr/>
            <p:nvPr/>
          </p:nvSpPr>
          <p:spPr>
            <a:xfrm>
              <a:off x="-276800" y="-129309"/>
              <a:ext cx="12964033" cy="7114309"/>
            </a:xfrm>
            <a:prstGeom prst="roundRect">
              <a:avLst>
                <a:gd fmla="val 685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9525">
              <a:solidFill>
                <a:srgbClr val="F5F7F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11115880" y="140386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11641582" y="155544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300"/>
                <a:buFont typeface="Quattrocento Sans"/>
                <a:buNone/>
              </a:pPr>
              <a:r>
                <a:rPr lang="en-US" sz="19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>
              <a:off x="12135417" y="149622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>
              <a:off x="239915" y="231210"/>
              <a:ext cx="201168" cy="201168"/>
            </a:xfrm>
            <a:prstGeom prst="roundRect">
              <a:avLst>
                <a:gd fmla="val 2272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541667" y="103194"/>
              <a:ext cx="6720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4454708" y="4875796"/>
            <a:ext cx="7204639" cy="1259835"/>
            <a:chOff x="9197480" y="1331331"/>
            <a:chExt cx="2542032" cy="1417320"/>
          </a:xfrm>
        </p:grpSpPr>
        <p:grpSp>
          <p:nvGrpSpPr>
            <p:cNvPr id="470" name="Google Shape;470;p10"/>
            <p:cNvGrpSpPr/>
            <p:nvPr/>
          </p:nvGrpSpPr>
          <p:grpSpPr>
            <a:xfrm>
              <a:off x="9197480" y="1331331"/>
              <a:ext cx="2542032" cy="1417320"/>
              <a:chOff x="9197480" y="1331331"/>
              <a:chExt cx="2542032" cy="1417320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9197480" y="1331331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.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1087083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11145152" y="1378483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1141947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76" name="Google Shape;476;p10"/>
            <p:cNvCxnSpPr/>
            <p:nvPr/>
          </p:nvCxnSpPr>
          <p:spPr>
            <a:xfrm>
              <a:off x="9334640" y="1715379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7" name="Google Shape;477;p10"/>
          <p:cNvGrpSpPr/>
          <p:nvPr/>
        </p:nvGrpSpPr>
        <p:grpSpPr>
          <a:xfrm>
            <a:off x="724984" y="1383616"/>
            <a:ext cx="6711444" cy="3881210"/>
            <a:chOff x="2917330" y="1521383"/>
            <a:chExt cx="6376469" cy="3687495"/>
          </a:xfrm>
        </p:grpSpPr>
        <p:grpSp>
          <p:nvGrpSpPr>
            <p:cNvPr id="478" name="Google Shape;478;p10"/>
            <p:cNvGrpSpPr/>
            <p:nvPr/>
          </p:nvGrpSpPr>
          <p:grpSpPr>
            <a:xfrm>
              <a:off x="2917330" y="1521383"/>
              <a:ext cx="6376469" cy="3687495"/>
              <a:chOff x="1414683" y="1382753"/>
              <a:chExt cx="6376469" cy="3687495"/>
            </a:xfrm>
          </p:grpSpPr>
          <p:grpSp>
            <p:nvGrpSpPr>
              <p:cNvPr id="479" name="Google Shape;479;p10"/>
              <p:cNvGrpSpPr/>
              <p:nvPr/>
            </p:nvGrpSpPr>
            <p:grpSpPr>
              <a:xfrm>
                <a:off x="2400002" y="183555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480" name="Google Shape;480;p10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481" name="Google Shape;481;p10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" name="Google Shape;482;p10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" name="Google Shape;483;p10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" name="Google Shape;484;p10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485" name="Google Shape;485;p10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86" name="Google Shape;486;p10"/>
              <p:cNvGrpSpPr/>
              <p:nvPr/>
            </p:nvGrpSpPr>
            <p:grpSpPr>
              <a:xfrm>
                <a:off x="1924666" y="158790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487" name="Google Shape;487;p10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488" name="Google Shape;488;p10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10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0" name="Google Shape;490;p10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0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492" name="Google Shape;492;p10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93" name="Google Shape;493;p10"/>
              <p:cNvGrpSpPr/>
              <p:nvPr/>
            </p:nvGrpSpPr>
            <p:grpSpPr>
              <a:xfrm>
                <a:off x="1414683" y="1382753"/>
                <a:ext cx="5391150" cy="3234689"/>
                <a:chOff x="3722451" y="2184583"/>
                <a:chExt cx="5391150" cy="3234689"/>
              </a:xfrm>
            </p:grpSpPr>
            <p:grpSp>
              <p:nvGrpSpPr>
                <p:cNvPr id="494" name="Google Shape;494;p10"/>
                <p:cNvGrpSpPr/>
                <p:nvPr/>
              </p:nvGrpSpPr>
              <p:grpSpPr>
                <a:xfrm>
                  <a:off x="3722451" y="2184583"/>
                  <a:ext cx="5391150" cy="3234689"/>
                  <a:chOff x="3722451" y="2184583"/>
                  <a:chExt cx="5391150" cy="3234689"/>
                </a:xfrm>
              </p:grpSpPr>
              <p:sp>
                <p:nvSpPr>
                  <p:cNvPr id="495" name="Google Shape;495;p10"/>
                  <p:cNvSpPr/>
                  <p:nvPr/>
                </p:nvSpPr>
                <p:spPr>
                  <a:xfrm>
                    <a:off x="3722451" y="2184583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10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" name="Google Shape;497;p10"/>
                  <p:cNvSpPr/>
                  <p:nvPr/>
                </p:nvSpPr>
                <p:spPr>
                  <a:xfrm>
                    <a:off x="8075739" y="2243751"/>
                    <a:ext cx="478977" cy="5899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" name="Google Shape;498;p10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499" name="Google Shape;499;p10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00" name="Google Shape;500;p10"/>
            <p:cNvSpPr/>
            <p:nvPr/>
          </p:nvSpPr>
          <p:spPr>
            <a:xfrm>
              <a:off x="4577686" y="3003677"/>
              <a:ext cx="2902498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1B1B"/>
                </a:buClr>
                <a:buSzPts val="3600"/>
                <a:buFont typeface="Quattrocento Sans"/>
                <a:buNone/>
              </a:pPr>
              <a:r>
                <a:rPr b="1" lang="en-US" sz="36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Bug Fixes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4080221" y="3152000"/>
              <a:ext cx="337500" cy="337500"/>
            </a:xfrm>
            <a:prstGeom prst="roundRect">
              <a:avLst>
                <a:gd fmla="val 19231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3580954" y="1580107"/>
              <a:ext cx="2996266" cy="73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Section 3.exe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3276866" y="1846522"/>
              <a:ext cx="210683" cy="210683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p10"/>
          <p:cNvGrpSpPr/>
          <p:nvPr/>
        </p:nvGrpSpPr>
        <p:grpSpPr>
          <a:xfrm>
            <a:off x="8282284" y="1056133"/>
            <a:ext cx="2973432" cy="3349509"/>
            <a:chOff x="5820154" y="1792224"/>
            <a:chExt cx="2409443" cy="2596893"/>
          </a:xfrm>
        </p:grpSpPr>
        <p:grpSp>
          <p:nvGrpSpPr>
            <p:cNvPr id="505" name="Google Shape;505;p10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506" name="Google Shape;506;p10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0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0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0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0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0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2" name="Google Shape;512;p10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3" name="Google Shape;513;p10"/>
          <p:cNvPicPr preferRelativeResize="0"/>
          <p:nvPr/>
        </p:nvPicPr>
        <p:blipFill rotWithShape="1">
          <a:blip r:embed="rId3">
            <a:alphaModFix/>
          </a:blip>
          <a:srcRect b="12546" l="7987" r="4248" t="16733"/>
          <a:stretch/>
        </p:blipFill>
        <p:spPr>
          <a:xfrm>
            <a:off x="8420532" y="1721647"/>
            <a:ext cx="2735040" cy="2575296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0"/>
          <p:cNvSpPr/>
          <p:nvPr/>
        </p:nvSpPr>
        <p:spPr>
          <a:xfrm>
            <a:off x="736755" y="49699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529767" y="656759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10"/>
          <p:cNvCxnSpPr/>
          <p:nvPr/>
        </p:nvCxnSpPr>
        <p:spPr>
          <a:xfrm>
            <a:off x="646268" y="804523"/>
            <a:ext cx="11013080" cy="25103"/>
          </a:xfrm>
          <a:prstGeom prst="straightConnector1">
            <a:avLst/>
          </a:prstGeom>
          <a:noFill/>
          <a:ln cap="flat" cmpd="sng" w="12700">
            <a:solidFill>
              <a:srgbClr val="7F7F7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7" name="Google Shape;517;p10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518" name="Google Shape;518;p10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519" name="Google Shape;519;p10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520" name="Google Shape;520;p10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521" name="Google Shape;521;p10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522" name="Google Shape;522;p10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523" name="Google Shape;523;p10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  <p:pic>
        <p:nvPicPr>
          <p:cNvPr id="524" name="Google Shape;52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4375" y="3139096"/>
            <a:ext cx="324163" cy="32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FFC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03</a:t>
            </a:r>
            <a:endParaRPr sz="11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5042916" y="1053847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 / After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640080" y="1737360"/>
            <a:ext cx="4768596" cy="41148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841248" y="184251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8A8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1143000" y="1737360"/>
            <a:ext cx="3396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4539996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4814316" y="1793081"/>
            <a:ext cx="274320" cy="29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5088636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8" name="Google Shape;538;p11"/>
          <p:cNvCxnSpPr/>
          <p:nvPr/>
        </p:nvCxnSpPr>
        <p:spPr>
          <a:xfrm>
            <a:off x="777240" y="2148840"/>
            <a:ext cx="4494276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11"/>
          <p:cNvSpPr/>
          <p:nvPr/>
        </p:nvSpPr>
        <p:spPr>
          <a:xfrm>
            <a:off x="1005840" y="2377440"/>
            <a:ext cx="40370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Font typeface="Quattrocento Sans"/>
              <a:buNone/>
            </a:pPr>
            <a:r>
              <a:rPr b="1" lang="en-US" sz="1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1005840" y="3134105"/>
            <a:ext cx="4037076" cy="1321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During testing, when a letter was accidentally entered instead of a number, the program would enter an infinite loop and eventually crash because the invalid input remained in the input buffer.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6783324" y="1737360"/>
            <a:ext cx="4768596" cy="41148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6984492" y="184251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7286244" y="1737360"/>
            <a:ext cx="3396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10683240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10957560" y="1793081"/>
            <a:ext cx="274320" cy="29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11231880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11"/>
          <p:cNvCxnSpPr/>
          <p:nvPr/>
        </p:nvCxnSpPr>
        <p:spPr>
          <a:xfrm>
            <a:off x="6920484" y="2148840"/>
            <a:ext cx="4494276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11"/>
          <p:cNvSpPr/>
          <p:nvPr/>
        </p:nvSpPr>
        <p:spPr>
          <a:xfrm>
            <a:off x="7149084" y="2377440"/>
            <a:ext cx="40370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7C0"/>
              </a:buClr>
              <a:buSzPts val="1900"/>
              <a:buFont typeface="Quattrocento Sans"/>
              <a:buNone/>
            </a:pPr>
            <a:r>
              <a:rPr b="1" lang="en-US" sz="1900">
                <a:solidFill>
                  <a:srgbClr val="0067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7149084" y="2647187"/>
            <a:ext cx="4539996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solve this problem, </a:t>
            </a:r>
            <a:r>
              <a:rPr b="1"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getchar() </a:t>
            </a: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was used along with </a:t>
            </a:r>
            <a:r>
              <a:rPr b="1"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scanf() </a:t>
            </a: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clear unwanted input from the input buffer: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7185660" y="3559298"/>
            <a:ext cx="4088892" cy="112014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 txBox="1"/>
          <p:nvPr/>
        </p:nvSpPr>
        <p:spPr>
          <a:xfrm>
            <a:off x="7225284" y="3673177"/>
            <a:ext cx="4189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(scanf("%d", &amp;choice) != 1) {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while (getchar() != '\n’); 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7085076" y="4753735"/>
            <a:ext cx="4454652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Outcome:</a:t>
            </a: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This improvement prevented infinite loops and resulted in smoother gameplay with stable and reliable user input handling.</a:t>
            </a:r>
            <a:endParaRPr/>
          </a:p>
        </p:txBody>
      </p:sp>
      <p:sp>
        <p:nvSpPr>
          <p:cNvPr id="554" name="Google Shape;554;p11"/>
          <p:cNvSpPr/>
          <p:nvPr/>
        </p:nvSpPr>
        <p:spPr>
          <a:xfrm>
            <a:off x="640080" y="800861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600"/>
              <a:buFont typeface="Quattrocento Sans"/>
              <a:buNone/>
            </a:pPr>
            <a:r>
              <a:rPr b="1" lang="en-US" sz="36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Bug Fix 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5" name="Google Shape;555;p11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556" name="Google Shape;556;p11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557" name="Google Shape;557;p11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558" name="Google Shape;558;p11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559" name="Google Shape;559;p11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560" name="Google Shape;560;p11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561" name="Google Shape;561;p11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"/>
          <p:cNvSpPr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FFC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03</a:t>
            </a:r>
            <a:endParaRPr sz="11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5042916" y="105613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 / After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640080" y="1737360"/>
            <a:ext cx="4768596" cy="41148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841248" y="184251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8A8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1143000" y="1737360"/>
            <a:ext cx="3396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4539996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4814316" y="1793081"/>
            <a:ext cx="274320" cy="29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5088636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12"/>
          <p:cNvCxnSpPr/>
          <p:nvPr/>
        </p:nvCxnSpPr>
        <p:spPr>
          <a:xfrm>
            <a:off x="777240" y="2148840"/>
            <a:ext cx="4494276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12"/>
          <p:cNvSpPr/>
          <p:nvPr/>
        </p:nvSpPr>
        <p:spPr>
          <a:xfrm>
            <a:off x="1005840" y="2377440"/>
            <a:ext cx="40370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Font typeface="Quattrocento Sans"/>
              <a:buNone/>
            </a:pPr>
            <a:r>
              <a:rPr b="1" lang="en-US" sz="1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1005840" y="2987799"/>
            <a:ext cx="4037076" cy="1321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Sometimes, Players could overwrite existing marks (X or O) on the board</a:t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6783324" y="1737360"/>
            <a:ext cx="4768596" cy="41148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63500">
              <a:srgbClr val="1B1B1B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6984492" y="1842516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7286244" y="1737360"/>
            <a:ext cx="33969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0"/>
              <a:buFont typeface="Quattrocento Sans"/>
              <a:buNone/>
            </a:pPr>
            <a:r>
              <a:rPr lang="en-US" sz="1100">
                <a:solidFill>
                  <a:srgbClr val="5F5F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after.exe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10683240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10957560" y="1793081"/>
            <a:ext cx="274320" cy="296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Quattrocento Sans"/>
              <a:buNone/>
            </a:pPr>
            <a:r>
              <a:rPr lang="en-US" sz="10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11231880" y="1815084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Quattrocento Sans"/>
              <a:buNone/>
            </a:pPr>
            <a:r>
              <a:rPr lang="en-US" sz="13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×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12"/>
          <p:cNvCxnSpPr/>
          <p:nvPr/>
        </p:nvCxnSpPr>
        <p:spPr>
          <a:xfrm>
            <a:off x="6920484" y="2148840"/>
            <a:ext cx="4494276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12"/>
          <p:cNvSpPr/>
          <p:nvPr/>
        </p:nvSpPr>
        <p:spPr>
          <a:xfrm>
            <a:off x="7149084" y="2377440"/>
            <a:ext cx="40370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7C0"/>
              </a:buClr>
              <a:buSzPts val="1900"/>
              <a:buFont typeface="Quattrocento Sans"/>
              <a:buNone/>
            </a:pPr>
            <a:r>
              <a:rPr b="1" lang="en-US" sz="1900">
                <a:solidFill>
                  <a:srgbClr val="0067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7149084" y="2647187"/>
            <a:ext cx="4539996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solve this problem, </a:t>
            </a:r>
            <a:r>
              <a:rPr b="1"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place_marker() </a:t>
            </a: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was used to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clear unwanted input from the input buffer:</a:t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7185660" y="3559298"/>
            <a:ext cx="4088892" cy="112014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7225284" y="3621023"/>
            <a:ext cx="4189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place_marker(int slot)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if (slot &lt; 1 || slot &gt; 9 || board[slot] == PLAYER_X || board[slot] == PLAYER_O)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 return 0;  }</a:t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7149084" y="4726727"/>
            <a:ext cx="4454652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Outcome:</a:t>
            </a: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This makes sure only a vacant slot is used by a player and it doesn't overwrite past input of other player.</a:t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640080" y="800861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600"/>
              <a:buFont typeface="Quattrocento Sans"/>
              <a:buNone/>
            </a:pPr>
            <a:r>
              <a:rPr b="1" lang="en-US" sz="3600">
                <a:solidFill>
                  <a:srgbClr val="1B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Bug Fix 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2" name="Google Shape;592;p12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593" name="Google Shape;593;p12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594" name="Google Shape;594;p12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595" name="Google Shape;595;p12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596" name="Google Shape;596;p12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597" name="Google Shape;597;p12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598" name="Google Shape;598;p12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3"/>
          <p:cNvSpPr/>
          <p:nvPr/>
        </p:nvSpPr>
        <p:spPr>
          <a:xfrm>
            <a:off x="646268" y="1056133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4169417" y="3314274"/>
            <a:ext cx="830226" cy="9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13"/>
          <p:cNvGrpSpPr/>
          <p:nvPr/>
        </p:nvGrpSpPr>
        <p:grpSpPr>
          <a:xfrm>
            <a:off x="283832" y="194404"/>
            <a:ext cx="11624335" cy="6313314"/>
            <a:chOff x="-276800" y="-129309"/>
            <a:chExt cx="12964033" cy="7114309"/>
          </a:xfrm>
        </p:grpSpPr>
        <p:sp>
          <p:nvSpPr>
            <p:cNvPr id="607" name="Google Shape;607;p13"/>
            <p:cNvSpPr/>
            <p:nvPr/>
          </p:nvSpPr>
          <p:spPr>
            <a:xfrm>
              <a:off x="-276800" y="-129309"/>
              <a:ext cx="12964033" cy="7114309"/>
            </a:xfrm>
            <a:prstGeom prst="roundRect">
              <a:avLst>
                <a:gd fmla="val 685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 cap="flat" cmpd="sng" w="9525">
              <a:solidFill>
                <a:srgbClr val="F5F7F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11115880" y="146626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11641582" y="155544"/>
              <a:ext cx="2742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300"/>
                <a:buFont typeface="Quattrocento Sans"/>
                <a:buNone/>
              </a:pPr>
              <a:r>
                <a:rPr lang="en-US" sz="18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12135417" y="149622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2400"/>
                <a:buFont typeface="Quattrocento Sans"/>
                <a:buNone/>
              </a:pPr>
              <a:r>
                <a:rPr lang="en-US" sz="24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239915" y="231210"/>
              <a:ext cx="201168" cy="201168"/>
            </a:xfrm>
            <a:prstGeom prst="roundRect">
              <a:avLst>
                <a:gd fmla="val 22727" name="adj"/>
              </a:avLst>
            </a:prstGeom>
            <a:gradFill>
              <a:gsLst>
                <a:gs pos="0">
                  <a:srgbClr val="F5F7FC"/>
                </a:gs>
                <a:gs pos="74000">
                  <a:srgbClr val="A9BEE4"/>
                </a:gs>
                <a:gs pos="83000">
                  <a:srgbClr val="A9BEE4"/>
                </a:gs>
                <a:gs pos="100000">
                  <a:srgbClr val="C5D3ED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541667" y="103194"/>
              <a:ext cx="6720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13"/>
          <p:cNvGrpSpPr/>
          <p:nvPr/>
        </p:nvGrpSpPr>
        <p:grpSpPr>
          <a:xfrm>
            <a:off x="4454708" y="4875796"/>
            <a:ext cx="7204639" cy="1259835"/>
            <a:chOff x="9197480" y="1331331"/>
            <a:chExt cx="2542032" cy="141732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9197480" y="1331331"/>
              <a:ext cx="2542032" cy="1417320"/>
              <a:chOff x="9197480" y="1331331"/>
              <a:chExt cx="2542032" cy="1417320"/>
            </a:xfrm>
          </p:grpSpPr>
          <p:sp>
            <p:nvSpPr>
              <p:cNvPr id="615" name="Google Shape;615;p13"/>
              <p:cNvSpPr/>
              <p:nvPr/>
            </p:nvSpPr>
            <p:spPr>
              <a:xfrm>
                <a:off x="9197480" y="1331331"/>
                <a:ext cx="2542032" cy="1417320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0"/>
                  <a:buFont typeface="Quattrocento Sans"/>
                  <a:buNone/>
                </a:pPr>
                <a:r>
                  <a:rPr lang="en-US" sz="1100">
                    <a:solidFill>
                      <a:srgbClr val="5F5F5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.</a:t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1087083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11145152" y="1378483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000"/>
                  <a:buFont typeface="Quattrocento Sans"/>
                  <a:buNone/>
                </a:pPr>
                <a:r>
                  <a:rPr lang="en-US" sz="10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11419472" y="1395339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300"/>
                  <a:buFont typeface="Quattrocento Sans"/>
                  <a:buNone/>
                </a:pPr>
                <a:r>
                  <a:rPr lang="en-US" sz="13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20" name="Google Shape;620;p13"/>
            <p:cNvCxnSpPr/>
            <p:nvPr/>
          </p:nvCxnSpPr>
          <p:spPr>
            <a:xfrm>
              <a:off x="9334640" y="1715379"/>
              <a:ext cx="2267712" cy="0"/>
            </a:xfrm>
            <a:prstGeom prst="straightConnector1">
              <a:avLst/>
            </a:prstGeom>
            <a:noFill/>
            <a:ln cap="flat" cmpd="sng" w="12700">
              <a:solidFill>
                <a:srgbClr val="ECE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1" name="Google Shape;621;p13"/>
          <p:cNvGrpSpPr/>
          <p:nvPr/>
        </p:nvGrpSpPr>
        <p:grpSpPr>
          <a:xfrm>
            <a:off x="724984" y="1383616"/>
            <a:ext cx="6711444" cy="3881210"/>
            <a:chOff x="2917330" y="1521383"/>
            <a:chExt cx="6376469" cy="3687495"/>
          </a:xfrm>
        </p:grpSpPr>
        <p:grpSp>
          <p:nvGrpSpPr>
            <p:cNvPr id="622" name="Google Shape;622;p13"/>
            <p:cNvGrpSpPr/>
            <p:nvPr/>
          </p:nvGrpSpPr>
          <p:grpSpPr>
            <a:xfrm>
              <a:off x="2917330" y="1521383"/>
              <a:ext cx="6376469" cy="3687495"/>
              <a:chOff x="1414683" y="1382753"/>
              <a:chExt cx="6376469" cy="3687495"/>
            </a:xfrm>
          </p:grpSpPr>
          <p:grpSp>
            <p:nvGrpSpPr>
              <p:cNvPr id="623" name="Google Shape;623;p13"/>
              <p:cNvGrpSpPr/>
              <p:nvPr/>
            </p:nvGrpSpPr>
            <p:grpSpPr>
              <a:xfrm>
                <a:off x="2400002" y="183555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624" name="Google Shape;624;p13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625" name="Google Shape;625;p13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13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13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13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30" name="Google Shape;630;p13"/>
              <p:cNvGrpSpPr/>
              <p:nvPr/>
            </p:nvGrpSpPr>
            <p:grpSpPr>
              <a:xfrm>
                <a:off x="1924666" y="1587909"/>
                <a:ext cx="5391150" cy="3234689"/>
                <a:chOff x="3703322" y="2177511"/>
                <a:chExt cx="5391150" cy="3234689"/>
              </a:xfrm>
            </p:grpSpPr>
            <p:grpSp>
              <p:nvGrpSpPr>
                <p:cNvPr id="631" name="Google Shape;631;p13"/>
                <p:cNvGrpSpPr/>
                <p:nvPr/>
              </p:nvGrpSpPr>
              <p:grpSpPr>
                <a:xfrm>
                  <a:off x="3703322" y="2177511"/>
                  <a:ext cx="5391150" cy="3234689"/>
                  <a:chOff x="3703322" y="2177511"/>
                  <a:chExt cx="5391150" cy="3234689"/>
                </a:xfrm>
              </p:grpSpPr>
              <p:sp>
                <p:nvSpPr>
                  <p:cNvPr id="632" name="Google Shape;632;p13"/>
                  <p:cNvSpPr/>
                  <p:nvPr/>
                </p:nvSpPr>
                <p:spPr>
                  <a:xfrm>
                    <a:off x="3703322" y="2177511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13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13"/>
                  <p:cNvSpPr/>
                  <p:nvPr/>
                </p:nvSpPr>
                <p:spPr>
                  <a:xfrm>
                    <a:off x="8075739" y="2316141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13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636" name="Google Shape;636;p13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37" name="Google Shape;637;p13"/>
              <p:cNvGrpSpPr/>
              <p:nvPr/>
            </p:nvGrpSpPr>
            <p:grpSpPr>
              <a:xfrm>
                <a:off x="1414683" y="1382753"/>
                <a:ext cx="5391150" cy="3234689"/>
                <a:chOff x="3722451" y="2184583"/>
                <a:chExt cx="5391150" cy="3234689"/>
              </a:xfrm>
            </p:grpSpPr>
            <p:grpSp>
              <p:nvGrpSpPr>
                <p:cNvPr id="638" name="Google Shape;638;p13"/>
                <p:cNvGrpSpPr/>
                <p:nvPr/>
              </p:nvGrpSpPr>
              <p:grpSpPr>
                <a:xfrm>
                  <a:off x="3722451" y="2184583"/>
                  <a:ext cx="5391150" cy="3234689"/>
                  <a:chOff x="3722451" y="2184583"/>
                  <a:chExt cx="5391150" cy="3234689"/>
                </a:xfrm>
              </p:grpSpPr>
              <p:sp>
                <p:nvSpPr>
                  <p:cNvPr id="639" name="Google Shape;639;p13"/>
                  <p:cNvSpPr/>
                  <p:nvPr/>
                </p:nvSpPr>
                <p:spPr>
                  <a:xfrm>
                    <a:off x="3722451" y="2184583"/>
                    <a:ext cx="5391150" cy="3234689"/>
                  </a:xfrm>
                  <a:prstGeom prst="roundRect">
                    <a:avLst>
                      <a:gd fmla="val 6857" name="adj"/>
                    </a:avLst>
                  </a:prstGeom>
                  <a:solidFill>
                    <a:srgbClr val="FFFFFF"/>
                  </a:solidFill>
                  <a:ln cap="flat" cmpd="sng" w="9525">
                    <a:solidFill>
                      <a:srgbClr val="E2E2E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228600" rotWithShape="0" algn="bl" dir="5400000" dist="63500">
                      <a:srgbClr val="1B1B1B">
                        <a:alpha val="16078"/>
                      </a:srgbClr>
                    </a:outerShdw>
                  </a:effectLst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13"/>
                  <p:cNvSpPr/>
                  <p:nvPr/>
                </p:nvSpPr>
                <p:spPr>
                  <a:xfrm>
                    <a:off x="7596762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–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13"/>
                  <p:cNvSpPr/>
                  <p:nvPr/>
                </p:nvSpPr>
                <p:spPr>
                  <a:xfrm>
                    <a:off x="8075739" y="2243751"/>
                    <a:ext cx="478977" cy="58993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000"/>
                      <a:buFont typeface="Quattrocento Sans"/>
                      <a:buNone/>
                    </a:pPr>
                    <a:r>
                      <a:rPr lang="en-US" sz="10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□</a:t>
                    </a:r>
                    <a:endParaRPr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642;p13"/>
                  <p:cNvSpPr/>
                  <p:nvPr/>
                </p:nvSpPr>
                <p:spPr>
                  <a:xfrm>
                    <a:off x="8554716" y="2279174"/>
                    <a:ext cx="478977" cy="5175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8A8A8A"/>
                      </a:buClr>
                      <a:buSzPts val="1300"/>
                      <a:buFont typeface="Quattrocento Sans"/>
                      <a:buNone/>
                    </a:pPr>
                    <a:r>
                      <a:rPr lang="en-US" sz="1300">
                        <a:solidFill>
                          <a:srgbClr val="8A8A8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rPr>
                      <a:t>×</a:t>
                    </a:r>
                    <a:endParaRPr sz="13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3961860" y="2907627"/>
                  <a:ext cx="4912173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ECECE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644" name="Google Shape;644;p13"/>
            <p:cNvSpPr/>
            <p:nvPr/>
          </p:nvSpPr>
          <p:spPr>
            <a:xfrm>
              <a:off x="4195198" y="2701415"/>
              <a:ext cx="4135449" cy="1231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1B1B"/>
                </a:buClr>
                <a:buSzPts val="2800"/>
                <a:buFont typeface="Quattrocento Sans"/>
                <a:buNone/>
              </a:pPr>
              <a:r>
                <a:rPr b="1" lang="en-US" sz="2800">
                  <a:solidFill>
                    <a:srgbClr val="1B1B1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Conclusion and Future Improvements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3565026" y="3150555"/>
              <a:ext cx="337624" cy="337624"/>
            </a:xfrm>
            <a:prstGeom prst="roundRect">
              <a:avLst>
                <a:gd fmla="val 19231" name="adj"/>
              </a:avLst>
            </a:prstGeom>
            <a:solidFill>
              <a:srgbClr val="00B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3580954" y="1580107"/>
              <a:ext cx="2996266" cy="739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Section 4.exe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3276866" y="1846522"/>
              <a:ext cx="210683" cy="210683"/>
            </a:xfrm>
            <a:prstGeom prst="roundRect">
              <a:avLst>
                <a:gd fmla="val 19231" name="adj"/>
              </a:avLst>
            </a:prstGeom>
            <a:solidFill>
              <a:srgbClr val="6B3F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8" name="Google Shape;648;p13"/>
          <p:cNvGrpSpPr/>
          <p:nvPr/>
        </p:nvGrpSpPr>
        <p:grpSpPr>
          <a:xfrm>
            <a:off x="8282284" y="1056133"/>
            <a:ext cx="2973432" cy="3349509"/>
            <a:chOff x="5820154" y="1792224"/>
            <a:chExt cx="2409443" cy="2596893"/>
          </a:xfrm>
        </p:grpSpPr>
        <p:grpSp>
          <p:nvGrpSpPr>
            <p:cNvPr id="649" name="Google Shape;649;p13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650" name="Google Shape;650;p13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9216230" y="1571068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680192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954512" y="1464471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1228831" y="1481328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13"/>
            <p:cNvSpPr txBox="1"/>
            <p:nvPr/>
          </p:nvSpPr>
          <p:spPr>
            <a:xfrm>
              <a:off x="6209299" y="2040240"/>
              <a:ext cx="1245112" cy="238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TicTacToe.jpg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7" name="Google Shape;657;p13"/>
          <p:cNvPicPr preferRelativeResize="0"/>
          <p:nvPr/>
        </p:nvPicPr>
        <p:blipFill rotWithShape="1">
          <a:blip r:embed="rId3">
            <a:alphaModFix/>
          </a:blip>
          <a:srcRect b="12546" l="7987" r="4248" t="16733"/>
          <a:stretch/>
        </p:blipFill>
        <p:spPr>
          <a:xfrm>
            <a:off x="8420532" y="1721647"/>
            <a:ext cx="2735040" cy="257529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3"/>
          <p:cNvSpPr/>
          <p:nvPr/>
        </p:nvSpPr>
        <p:spPr>
          <a:xfrm>
            <a:off x="736755" y="496990"/>
            <a:ext cx="201168" cy="201168"/>
          </a:xfrm>
          <a:prstGeom prst="roundRect">
            <a:avLst>
              <a:gd fmla="val 22727" name="adj"/>
            </a:avLst>
          </a:prstGeom>
          <a:solidFill>
            <a:srgbClr val="0067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11529767" y="656759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13"/>
          <p:cNvCxnSpPr/>
          <p:nvPr/>
        </p:nvCxnSpPr>
        <p:spPr>
          <a:xfrm>
            <a:off x="646268" y="804523"/>
            <a:ext cx="11013080" cy="25103"/>
          </a:xfrm>
          <a:prstGeom prst="straightConnector1">
            <a:avLst/>
          </a:prstGeom>
          <a:noFill/>
          <a:ln cap="flat" cmpd="sng" w="12700">
            <a:solidFill>
              <a:srgbClr val="7F7F7F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1" name="Google Shape;661;p13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662" name="Google Shape;662;p13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663" name="Google Shape;663;p13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664" name="Google Shape;664;p13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665" name="Google Shape;665;p13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666" name="Google Shape;666;p13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667" name="Google Shape;667;p13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  <p:pic>
        <p:nvPicPr>
          <p:cNvPr id="668" name="Google Shape;6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527" y="3283560"/>
            <a:ext cx="413874" cy="41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oogle Shape;674;p14"/>
          <p:cNvGrpSpPr/>
          <p:nvPr/>
        </p:nvGrpSpPr>
        <p:grpSpPr>
          <a:xfrm>
            <a:off x="270190" y="131444"/>
            <a:ext cx="11651283" cy="6376274"/>
            <a:chOff x="640080" y="548640"/>
            <a:chExt cx="10908792" cy="5760720"/>
          </a:xfrm>
        </p:grpSpPr>
        <p:sp>
          <p:nvSpPr>
            <p:cNvPr id="675" name="Google Shape;675;p14"/>
            <p:cNvSpPr/>
            <p:nvPr/>
          </p:nvSpPr>
          <p:spPr>
            <a:xfrm>
              <a:off x="640080" y="548640"/>
              <a:ext cx="10908792" cy="5760720"/>
            </a:xfrm>
            <a:prstGeom prst="roundRect">
              <a:avLst>
                <a:gd fmla="val 1905" name="adj"/>
              </a:avLst>
            </a:prstGeom>
            <a:solidFill>
              <a:srgbClr val="FFFFFF"/>
            </a:solidFill>
            <a:ln cap="flat" cmpd="sng" w="9525">
              <a:solidFill>
                <a:srgbClr val="E2E2E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28600" rotWithShape="0" algn="bl" dir="5400000" dist="63500">
                <a:srgbClr val="1B1B1B">
                  <a:alpha val="1607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841248" y="693761"/>
              <a:ext cx="201168" cy="201168"/>
            </a:xfrm>
            <a:prstGeom prst="roundRect">
              <a:avLst>
                <a:gd fmla="val 22727" name="adj"/>
              </a:avLst>
            </a:prstGeom>
            <a:solidFill>
              <a:srgbClr val="0067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1143000" y="565745"/>
              <a:ext cx="95371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0"/>
                <a:buFont typeface="Quattrocento Sans"/>
                <a:buNone/>
              </a:pPr>
              <a:r>
                <a:rPr lang="en-US" sz="11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TIC TAC TOE.exe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1068019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10954512" y="631033"/>
              <a:ext cx="274320" cy="292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000"/>
                <a:buFont typeface="Quattrocento Sans"/>
                <a:buNone/>
              </a:pPr>
              <a:r>
                <a:rPr lang="en-US" sz="10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□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11228832" y="649224"/>
              <a:ext cx="27432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8A8A8A"/>
                </a:buClr>
                <a:buSzPts val="1300"/>
                <a:buFont typeface="Quattrocento Sans"/>
                <a:buNone/>
              </a:pPr>
              <a:r>
                <a:rPr lang="en-US" sz="1300">
                  <a:solidFill>
                    <a:srgbClr val="8A8A8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×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1" name="Google Shape;681;p14"/>
          <p:cNvSpPr/>
          <p:nvPr/>
        </p:nvSpPr>
        <p:spPr>
          <a:xfrm>
            <a:off x="798682" y="88224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7C3"/>
              </a:buClr>
              <a:buSzPts val="1100"/>
              <a:buFont typeface="Quattrocento Sans"/>
              <a:buNone/>
            </a:pPr>
            <a:r>
              <a:rPr b="1" lang="en-US" sz="1100">
                <a:solidFill>
                  <a:srgbClr val="00B7C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04</a:t>
            </a:r>
            <a:endParaRPr sz="1100">
              <a:solidFill>
                <a:srgbClr val="00B7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4"/>
          <p:cNvCxnSpPr/>
          <p:nvPr/>
        </p:nvCxnSpPr>
        <p:spPr>
          <a:xfrm>
            <a:off x="475488" y="6726555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3" name="Google Shape;683;p1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8A8A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4"/>
          <p:cNvSpPr/>
          <p:nvPr/>
        </p:nvSpPr>
        <p:spPr>
          <a:xfrm>
            <a:off x="621792" y="155905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4"/>
          <p:cNvSpPr txBox="1"/>
          <p:nvPr/>
        </p:nvSpPr>
        <p:spPr>
          <a:xfrm>
            <a:off x="639168" y="1354308"/>
            <a:ext cx="6705485" cy="4507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we have developed a robust, bug-free Tic-Tac-Toe console game which has been designed for fast, competitive local play. This project allowed as to demonstrate all of the core C programming concepts which were learnt over this semester.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Scope: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Expand to a 4×4 or NxN board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 Computer opponent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leaderboard system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Mono"/>
              <a:buChar char="●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Upgrade to GUI-based version</a:t>
            </a:r>
            <a:endParaRPr/>
          </a:p>
        </p:txBody>
      </p:sp>
      <p:sp>
        <p:nvSpPr>
          <p:cNvPr id="686" name="Google Shape;686;p14"/>
          <p:cNvSpPr/>
          <p:nvPr/>
        </p:nvSpPr>
        <p:spPr>
          <a:xfrm>
            <a:off x="621792" y="339065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14"/>
          <p:cNvCxnSpPr/>
          <p:nvPr/>
        </p:nvCxnSpPr>
        <p:spPr>
          <a:xfrm>
            <a:off x="798682" y="758190"/>
            <a:ext cx="10634472" cy="0"/>
          </a:xfrm>
          <a:prstGeom prst="straightConnector1">
            <a:avLst/>
          </a:prstGeom>
          <a:noFill/>
          <a:ln cap="flat" cmpd="sng" w="1270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8" name="Google Shape;688;p14"/>
          <p:cNvGrpSpPr/>
          <p:nvPr/>
        </p:nvGrpSpPr>
        <p:grpSpPr>
          <a:xfrm>
            <a:off x="7395582" y="1178049"/>
            <a:ext cx="4174626" cy="4746931"/>
            <a:chOff x="5820154" y="1792224"/>
            <a:chExt cx="2409443" cy="2596893"/>
          </a:xfrm>
        </p:grpSpPr>
        <p:grpSp>
          <p:nvGrpSpPr>
            <p:cNvPr id="689" name="Google Shape;689;p14"/>
            <p:cNvGrpSpPr/>
            <p:nvPr/>
          </p:nvGrpSpPr>
          <p:grpSpPr>
            <a:xfrm>
              <a:off x="5820154" y="1792224"/>
              <a:ext cx="2409443" cy="2596893"/>
              <a:chOff x="9006839" y="1417320"/>
              <a:chExt cx="2542032" cy="1417320"/>
            </a:xfrm>
          </p:grpSpPr>
          <p:sp>
            <p:nvSpPr>
              <p:cNvPr id="690" name="Google Shape;690;p14"/>
              <p:cNvSpPr/>
              <p:nvPr/>
            </p:nvSpPr>
            <p:spPr>
              <a:xfrm>
                <a:off x="9006839" y="1464471"/>
                <a:ext cx="2542032" cy="1370169"/>
              </a:xfrm>
              <a:prstGeom prst="roundRect">
                <a:avLst>
                  <a:gd fmla="val 77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2E2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228600" rotWithShape="0" algn="bl" dir="5400000" dist="63500">
                  <a:srgbClr val="1B1B1B">
                    <a:alpha val="16078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9216230" y="1548316"/>
                <a:ext cx="201168" cy="103387"/>
              </a:xfrm>
              <a:prstGeom prst="roundRect">
                <a:avLst>
                  <a:gd fmla="val 22727" name="adj"/>
                </a:avLst>
              </a:prstGeom>
              <a:solidFill>
                <a:srgbClr val="6B3F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9509760" y="1417320"/>
                <a:ext cx="117043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10680192" y="1464264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–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10954512" y="1447407"/>
                <a:ext cx="274320" cy="29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400"/>
                  <a:buFont typeface="Quattrocento Sans"/>
                  <a:buNone/>
                </a:pPr>
                <a:r>
                  <a:rPr lang="en-US" sz="14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□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11228831" y="1464264"/>
                <a:ext cx="27432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8A8A8A"/>
                  </a:buClr>
                  <a:buSzPts val="1600"/>
                  <a:buFont typeface="Quattrocento Sans"/>
                  <a:buNone/>
                </a:pPr>
                <a:r>
                  <a:rPr lang="en-US" sz="1600">
                    <a:solidFill>
                      <a:srgbClr val="8A8A8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×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14"/>
            <p:cNvSpPr txBox="1"/>
            <p:nvPr/>
          </p:nvSpPr>
          <p:spPr>
            <a:xfrm>
              <a:off x="6209299" y="2040240"/>
              <a:ext cx="1245112" cy="168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400"/>
                <a:buFont typeface="Quattrocento Sans"/>
                <a:buNone/>
              </a:pPr>
              <a:r>
                <a:rPr lang="en-US" sz="1400">
                  <a:solidFill>
                    <a:srgbClr val="5F5F5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futureplan.jpg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7" name="Google Shape;6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0254" y="2140646"/>
            <a:ext cx="3655095" cy="365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14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699" name="Google Shape;699;p14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700" name="Google Shape;700;p14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701" name="Google Shape;701;p14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702" name="Google Shape;702;p14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703" name="Google Shape;703;p14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262626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704" name="Google Shape;704;p14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5"/>
          <p:cNvSpPr/>
          <p:nvPr/>
        </p:nvSpPr>
        <p:spPr>
          <a:xfrm>
            <a:off x="-4572" y="306324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Quattrocento Sans"/>
              <a:buNone/>
            </a:pPr>
            <a:r>
              <a:rPr b="1" lang="en-US" sz="6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3803904" y="397764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8"/>
              </a:buClr>
              <a:buSzPts val="900"/>
              <a:buFont typeface="Quattrocento Sans"/>
              <a:buNone/>
            </a:pPr>
            <a:r>
              <a:rPr lang="en-US" sz="900">
                <a:solidFill>
                  <a:srgbClr val="9A9A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3" name="Google Shape;713;p15"/>
          <p:cNvGrpSpPr/>
          <p:nvPr/>
        </p:nvGrpSpPr>
        <p:grpSpPr>
          <a:xfrm>
            <a:off x="649133" y="6425196"/>
            <a:ext cx="12130283" cy="362332"/>
            <a:chOff x="608683" y="6114198"/>
            <a:chExt cx="12130283" cy="362332"/>
          </a:xfrm>
        </p:grpSpPr>
        <p:grpSp>
          <p:nvGrpSpPr>
            <p:cNvPr id="714" name="Google Shape;714;p15"/>
            <p:cNvGrpSpPr/>
            <p:nvPr/>
          </p:nvGrpSpPr>
          <p:grpSpPr>
            <a:xfrm>
              <a:off x="2005944" y="6114198"/>
              <a:ext cx="10733022" cy="362332"/>
              <a:chOff x="1076103" y="6157326"/>
              <a:chExt cx="10733022" cy="362332"/>
            </a:xfrm>
          </p:grpSpPr>
          <p:sp>
            <p:nvSpPr>
              <p:cNvPr id="715" name="Google Shape;715;p15"/>
              <p:cNvSpPr txBox="1"/>
              <p:nvPr/>
            </p:nvSpPr>
            <p:spPr>
              <a:xfrm>
                <a:off x="1076103" y="6181104"/>
                <a:ext cx="22233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VT323"/>
                    <a:ea typeface="VT323"/>
                    <a:cs typeface="VT323"/>
                    <a:sym typeface="VT323"/>
                  </a:rPr>
                  <a:t>Sajir Rashdi Karim</a:t>
                </a:r>
                <a:endParaRPr/>
              </a:p>
            </p:txBody>
          </p:sp>
          <p:sp>
            <p:nvSpPr>
              <p:cNvPr id="716" name="Google Shape;716;p15"/>
              <p:cNvSpPr txBox="1"/>
              <p:nvPr/>
            </p:nvSpPr>
            <p:spPr>
              <a:xfrm>
                <a:off x="3192210" y="6176984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VT323"/>
                    <a:ea typeface="VT323"/>
                    <a:cs typeface="VT323"/>
                    <a:sym typeface="VT323"/>
                  </a:rPr>
                  <a:t>Irfan Sadik Ahmed Arnab</a:t>
                </a:r>
                <a:endParaRPr/>
              </a:p>
            </p:txBody>
          </p:sp>
          <p:sp>
            <p:nvSpPr>
              <p:cNvPr id="717" name="Google Shape;717;p15"/>
              <p:cNvSpPr txBox="1"/>
              <p:nvPr/>
            </p:nvSpPr>
            <p:spPr>
              <a:xfrm>
                <a:off x="6008026" y="6175155"/>
                <a:ext cx="30065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VT323"/>
                    <a:ea typeface="VT323"/>
                    <a:cs typeface="VT323"/>
                    <a:sym typeface="VT323"/>
                  </a:rPr>
                  <a:t>Md. Mahfuz Hayder Dilshad</a:t>
                </a:r>
                <a:endParaRPr/>
              </a:p>
            </p:txBody>
          </p:sp>
          <p:sp>
            <p:nvSpPr>
              <p:cNvPr id="718" name="Google Shape;718;p15"/>
              <p:cNvSpPr txBox="1"/>
              <p:nvPr/>
            </p:nvSpPr>
            <p:spPr>
              <a:xfrm>
                <a:off x="9014604" y="6157326"/>
                <a:ext cx="27945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VT323"/>
                    <a:ea typeface="VT323"/>
                    <a:cs typeface="VT323"/>
                    <a:sym typeface="VT323"/>
                  </a:rPr>
                  <a:t>Ishteaque Ahnaf</a:t>
                </a:r>
                <a:endParaRPr/>
              </a:p>
            </p:txBody>
          </p:sp>
        </p:grpSp>
        <p:sp>
          <p:nvSpPr>
            <p:cNvPr id="719" name="Google Shape;719;p15"/>
            <p:cNvSpPr txBox="1"/>
            <p:nvPr/>
          </p:nvSpPr>
          <p:spPr>
            <a:xfrm>
              <a:off x="608683" y="6124750"/>
              <a:ext cx="279452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VT323"/>
                  <a:ea typeface="VT323"/>
                  <a:cs typeface="VT323"/>
                  <a:sym typeface="VT323"/>
                </a:rPr>
                <a:t>Group 2</a:t>
              </a:r>
              <a:endParaRPr/>
            </a:p>
          </p:txBody>
        </p:sp>
      </p:grpSp>
      <p:grpSp>
        <p:nvGrpSpPr>
          <p:cNvPr id="720" name="Google Shape;720;p15"/>
          <p:cNvGrpSpPr/>
          <p:nvPr/>
        </p:nvGrpSpPr>
        <p:grpSpPr>
          <a:xfrm>
            <a:off x="5497544" y="1652088"/>
            <a:ext cx="1196900" cy="1186375"/>
            <a:chOff x="5701269" y="1720079"/>
            <a:chExt cx="1196900" cy="1186375"/>
          </a:xfrm>
        </p:grpSpPr>
        <p:grpSp>
          <p:nvGrpSpPr>
            <p:cNvPr id="721" name="Google Shape;721;p15"/>
            <p:cNvGrpSpPr/>
            <p:nvPr/>
          </p:nvGrpSpPr>
          <p:grpSpPr>
            <a:xfrm>
              <a:off x="5701269" y="1720079"/>
              <a:ext cx="1196900" cy="1186365"/>
              <a:chOff x="5701269" y="1720079"/>
              <a:chExt cx="1196900" cy="1186365"/>
            </a:xfrm>
          </p:grpSpPr>
          <p:grpSp>
            <p:nvGrpSpPr>
              <p:cNvPr id="722" name="Google Shape;722;p15"/>
              <p:cNvGrpSpPr/>
              <p:nvPr/>
            </p:nvGrpSpPr>
            <p:grpSpPr>
              <a:xfrm>
                <a:off x="5701284" y="2129204"/>
                <a:ext cx="777240" cy="777240"/>
                <a:chOff x="5394960" y="1371600"/>
                <a:chExt cx="777240" cy="777240"/>
              </a:xfrm>
            </p:grpSpPr>
            <p:sp>
              <p:nvSpPr>
                <p:cNvPr id="723" name="Google Shape;723;p15"/>
                <p:cNvSpPr/>
                <p:nvPr/>
              </p:nvSpPr>
              <p:spPr>
                <a:xfrm>
                  <a:off x="5394960" y="1371600"/>
                  <a:ext cx="357530" cy="357530"/>
                </a:xfrm>
                <a:prstGeom prst="roundRect">
                  <a:avLst>
                    <a:gd fmla="val 8951" name="adj"/>
                  </a:avLst>
                </a:prstGeom>
                <a:solidFill>
                  <a:srgbClr val="0067C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4" name="Google Shape;724;p15"/>
                <p:cNvSpPr/>
                <p:nvPr/>
              </p:nvSpPr>
              <p:spPr>
                <a:xfrm>
                  <a:off x="5814670" y="1371600"/>
                  <a:ext cx="357530" cy="357530"/>
                </a:xfrm>
                <a:prstGeom prst="roundRect">
                  <a:avLst>
                    <a:gd fmla="val 8951" name="adj"/>
                  </a:avLst>
                </a:prstGeom>
                <a:solidFill>
                  <a:srgbClr val="50B0E7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5" name="Google Shape;725;p15"/>
                <p:cNvSpPr/>
                <p:nvPr/>
              </p:nvSpPr>
              <p:spPr>
                <a:xfrm>
                  <a:off x="5394960" y="1791310"/>
                  <a:ext cx="357530" cy="357530"/>
                </a:xfrm>
                <a:prstGeom prst="roundRect">
                  <a:avLst>
                    <a:gd fmla="val 8951" name="adj"/>
                  </a:avLst>
                </a:prstGeom>
                <a:solidFill>
                  <a:srgbClr val="6B3FA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15"/>
                <p:cNvSpPr/>
                <p:nvPr/>
              </p:nvSpPr>
              <p:spPr>
                <a:xfrm>
                  <a:off x="5814670" y="1791310"/>
                  <a:ext cx="357530" cy="357530"/>
                </a:xfrm>
                <a:prstGeom prst="roundRect">
                  <a:avLst>
                    <a:gd fmla="val 8951" name="adj"/>
                  </a:avLst>
                </a:prstGeom>
                <a:solidFill>
                  <a:srgbClr val="E3008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7" name="Google Shape;727;p15"/>
              <p:cNvSpPr/>
              <p:nvPr/>
            </p:nvSpPr>
            <p:spPr>
              <a:xfrm>
                <a:off x="6120919" y="1720079"/>
                <a:ext cx="357600" cy="357600"/>
              </a:xfrm>
              <a:prstGeom prst="roundRect">
                <a:avLst>
                  <a:gd fmla="val 8951" name="adj"/>
                </a:avLst>
              </a:prstGeom>
              <a:solidFill>
                <a:srgbClr val="A2C4C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5701269" y="1720079"/>
                <a:ext cx="357600" cy="357600"/>
              </a:xfrm>
              <a:prstGeom prst="roundRect">
                <a:avLst>
                  <a:gd fmla="val 8951" name="adj"/>
                </a:avLst>
              </a:prstGeom>
              <a:solidFill>
                <a:srgbClr val="E066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6540569" y="1720079"/>
                <a:ext cx="357600" cy="357600"/>
              </a:xfrm>
              <a:prstGeom prst="roundRect">
                <a:avLst>
                  <a:gd fmla="val 8951" name="adj"/>
                </a:avLst>
              </a:prstGeom>
              <a:solidFill>
                <a:srgbClr val="B6D7A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6540569" y="2129204"/>
                <a:ext cx="357600" cy="357600"/>
              </a:xfrm>
              <a:prstGeom prst="roundRect">
                <a:avLst>
                  <a:gd fmla="val 8951" name="adj"/>
                </a:avLst>
              </a:prstGeom>
              <a:solidFill>
                <a:srgbClr val="C27BA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1" name="Google Shape;731;p15"/>
            <p:cNvSpPr/>
            <p:nvPr/>
          </p:nvSpPr>
          <p:spPr>
            <a:xfrm>
              <a:off x="6540569" y="2548854"/>
              <a:ext cx="357600" cy="357600"/>
            </a:xfrm>
            <a:prstGeom prst="roundRect">
              <a:avLst>
                <a:gd fmla="val 8951" name="adj"/>
              </a:avLst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2026-08-16T17:11:00Z</dcterms:created>
  <dc:creator>PptxGenJS</dc:creator>
</cp:coreProperties>
</file>